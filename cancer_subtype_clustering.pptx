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u8hjcBgkIRGnrYRG6Rj/irTB2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7D953B-915A-44D3-B1ED-BA07861D15CA}">
  <a:tblStyle styleId="{597D953B-915A-44D3-B1ED-BA07861D15C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Hello and </a:t>
            </a:r>
            <a:r>
              <a:rPr lang="en-US"/>
              <a:t>Welcome everyone to this presentation. This project asks a simple but powerful question: can an algorithm rediscover known cancer types from gene expression data alone, with no labels during training? I'll walk you through the data, the pipeline, the results, and a live demo.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Cancer isn't a single disease — subtypes differ dramatically in survival rates and treatment response. RNA sequencing gives us a fingerprint of each tumour. Our core question is whether unsupervised clustering can recover these known subtypes purely from expression patterns, with labels being completely hidden.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use the UCI TCGA dataset: 801 patients, 20,531 genes and five cancer types — breast, kidney, colon, lung, and prostate. The key rule: labels were never used during training, only for final evaluation. This is a genuinely unsupervised task.</a:t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About 30% of values are exactly zero — normal sparsity for RNA-Seq. The raw distribution is heavily right-skewed, and we found 267 genes with zero variance across all 801 patients — pure noise. These observations directly drive every preprocessing decision we make next.</a:t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steps: remove the 267 zero-variance genes, apply log1p to compress the skew, standardize each gene to zero mean and unit variance so no single gene dominates by magnitude, then PCA retaining 95% variance — reducing 20,264 genes down to 548 components.</a:t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scree plot shows biological signal is concentrated in a small subspace. 548 components capture 95% of variance — a 37× compression. This makes clustering tractable and filters out noise from low-signal gene fluctuations.</a:t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tested two families: K-Means, which minimises within-cluster squared distances, and Agglomerative clustering with three linkage criteria — Ward, Complete, and Average. All variants run at k=5. For K-Means, we used 50 random restarts to ensure stability.</a:t>
            </a:r>
            <a:endParaRPr/>
          </a:p>
        </p:txBody>
      </p:sp>
      <p:sp>
        <p:nvSpPr>
          <p:cNvPr id="269" name="Google Shape;2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didn't just assume k=5 — we validated it. Both the elbow on inertia and the silhouette score independently show a clear signal at k=5. The algorithm confirms what biology tells us, without seeing a single label.</a:t>
            </a:r>
            <a:endParaRPr/>
          </a:p>
        </p:txBody>
      </p:sp>
      <p:sp>
        <p:nvSpPr>
          <p:cNvPr id="301" name="Google Shape;3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projections are the most intuitive result. Five clear islands emerge in 2D, one per cancer type. Comparing true labels to K-Means predictions, the boundaries align almost perfectly. UMAP was chosen over t-SNE for production because it supports out-of-sample projection.</a:t>
            </a:r>
            <a:endParaRPr/>
          </a:p>
        </p:txBody>
      </p:sp>
      <p:sp>
        <p:nvSpPr>
          <p:cNvPr id="364" name="Google Shape;3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use three metrics. Silhouette is internal — no labels needed — and measures compactness versus separation. ARI and NMI are external: ARI measures agreement with true labels corrected for chance, NMI measures shared information between predicted clusters and true subtypes.</a:t>
            </a:r>
            <a:endParaRPr/>
          </a:p>
        </p:txBody>
      </p:sp>
      <p:sp>
        <p:nvSpPr>
          <p:cNvPr id="639" name="Google Shape;6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K-Means achieves ARI 0.79 and NMI 0.85 — strong unsupervised performance. But the critical lesson here is Average linkage: it scores the highest silhouette at 0.265, yet its ARI is essentially zero. It collapsed nearly all 800 patients into one giant cluster. Internal metrics alone cannot be trusted.</a:t>
            </a:r>
            <a:endParaRPr/>
          </a:p>
        </p:txBody>
      </p:sp>
      <p:sp>
        <p:nvSpPr>
          <p:cNvPr id="681" name="Google Shape;6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confusion matrix tells the full story. Each row has one dominant cell — a near one-to-one mapping from cluster to subtype. The algorithm grouped patients by organ of origin with zero label supervision.</a:t>
            </a:r>
            <a:endParaRPr/>
          </a:p>
        </p:txBody>
      </p:sp>
      <p:sp>
        <p:nvSpPr>
          <p:cNvPr id="697" name="Google Shape;6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project is deployed as a live Streamlit app. You can switch algorithms and k values and watch metrics update in real time, inspect PCA variance curves, compare all four algorithms side by side, and — most practically — upload a raw expression CSV and get a predicted cancer subtype back instantly.</a:t>
            </a:r>
            <a:endParaRPr/>
          </a:p>
        </p:txBody>
      </p:sp>
      <p:sp>
        <p:nvSpPr>
          <p:cNvPr id="789" name="Google Shape;7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2" name="Google Shape;8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589520" y="1325880"/>
            <a:ext cx="4206240" cy="4206240"/>
          </a:xfrm>
          <a:prstGeom prst="ellipse">
            <a:avLst/>
          </a:prstGeom>
          <a:solidFill>
            <a:srgbClr val="0F1729"/>
          </a:solidFill>
          <a:ln cap="flat" cmpd="sng" w="15875">
            <a:solidFill>
              <a:srgbClr val="14B8A6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046720" y="1783080"/>
            <a:ext cx="3291840" cy="3291840"/>
          </a:xfrm>
          <a:prstGeom prst="ellipse">
            <a:avLst/>
          </a:prstGeom>
          <a:solidFill>
            <a:srgbClr val="0F1729"/>
          </a:solidFill>
          <a:ln cap="flat" cmpd="sng" w="15875">
            <a:solidFill>
              <a:srgbClr val="14B8A6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503920" y="2240280"/>
            <a:ext cx="2377440" cy="2377440"/>
          </a:xfrm>
          <a:prstGeom prst="ellipse">
            <a:avLst/>
          </a:prstGeom>
          <a:solidFill>
            <a:srgbClr val="0F1729"/>
          </a:solidFill>
          <a:ln cap="flat" cmpd="sng" w="15875">
            <a:solidFill>
              <a:srgbClr val="5EEAD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961120" y="2697480"/>
            <a:ext cx="1463040" cy="1463040"/>
          </a:xfrm>
          <a:prstGeom prst="ellipse">
            <a:avLst/>
          </a:prstGeom>
          <a:solidFill>
            <a:srgbClr val="0F1729"/>
          </a:solidFill>
          <a:ln cap="flat" cmpd="sng" w="15875">
            <a:solidFill>
              <a:srgbClr val="5EEAD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9372600" y="3108960"/>
            <a:ext cx="640080" cy="640080"/>
          </a:xfrm>
          <a:prstGeom prst="ellipse">
            <a:avLst/>
          </a:prstGeom>
          <a:solidFill>
            <a:srgbClr val="0F1729"/>
          </a:solidFill>
          <a:ln cap="flat" cmpd="sng" w="15875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0863072" y="1856232"/>
            <a:ext cx="219456" cy="21945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1320272" y="3685032"/>
            <a:ext cx="219456" cy="21945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131552" y="4873752"/>
            <a:ext cx="219456" cy="21945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211312" y="4416552"/>
            <a:ext cx="219456" cy="21945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845552" y="2496312"/>
            <a:ext cx="219456" cy="21945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MACHINE LEARNING  ·  UNSUPERVISED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22960" y="1645920"/>
            <a:ext cx="8686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Unsupervised Discovery of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1F5F9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Cancer Subtypes via Gene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1F5F9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Expression Clustering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41248" y="4160520"/>
            <a:ext cx="82296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22960" y="43434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Can an algorithm rediscover known cancer 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without ever seeing a label?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22960" y="5715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[ </a:t>
            </a:r>
            <a:r>
              <a:rPr lang="en-US" sz="13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Mayssam Khlif</a:t>
            </a: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297680" y="5715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[ </a:t>
            </a:r>
            <a:r>
              <a:rPr lang="en-US" sz="13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772400" y="5715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[ </a:t>
            </a:r>
            <a:r>
              <a:rPr lang="en-US" sz="13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4/15/2026</a:t>
            </a: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Cancer subtyping matters — and genomics can help.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1920240"/>
            <a:ext cx="3657600" cy="40233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65760" y="1920240"/>
            <a:ext cx="73152" cy="40233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31520" y="22860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31520" y="297180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Cancer is not one disease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31520" y="388620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Subtypes differ dramatically in prognosis, drug response, and survival outcomes.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251960" y="1920240"/>
            <a:ext cx="3657600" cy="40233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251960" y="1920240"/>
            <a:ext cx="73152" cy="40233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617720" y="22860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617720" y="297180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Expression as a fingerprint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17720" y="388620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RNA-Seq profiles act as molecular signatures of tumour identity and tissue origin.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138160" y="1920240"/>
            <a:ext cx="3657600" cy="40233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138160" y="1920240"/>
            <a:ext cx="73152" cy="40233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503920" y="22860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503920" y="297180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research question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503920" y="388620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Can unsupervised clustering recover known cancer subtypes from expression data alone — with labels completely hidden during training?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UCI TCGA Gene Expression RNA-Seq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1828800"/>
            <a:ext cx="6035040" cy="40233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1828800"/>
            <a:ext cx="73152" cy="40233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22960" y="224028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801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2960" y="3383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566160" y="224028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20,531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566160" y="3383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genes (features)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3931920"/>
            <a:ext cx="5303520" cy="18288"/>
          </a:xfrm>
          <a:prstGeom prst="rect">
            <a:avLst/>
          </a:prstGeom>
          <a:solidFill>
            <a:srgbClr val="27355A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22960" y="4114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22960" y="43891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NIH / The Cancer Genome Atlas (TCGA)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via UCI Machine Learning 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22960" y="5120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LABEL POLICY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22960" y="53949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Labels used ONLY for evaluation — never during training.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766560" y="1828800"/>
            <a:ext cx="4937760" cy="40233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086600" y="21031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FIVE CANCER SUBTYPES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086600" y="2633472"/>
            <a:ext cx="100584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086600" y="263347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BRCA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229600" y="263347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Breast invasive carcinoma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086600" y="3273552"/>
            <a:ext cx="100584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086600" y="327355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KIRC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229600" y="327355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Kidney renal clear cell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086600" y="3913632"/>
            <a:ext cx="100584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086600" y="391363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COAD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229600" y="39136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Colon adenocarcinoma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086600" y="4553712"/>
            <a:ext cx="100584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7086600" y="455371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LUAD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229600" y="455371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Lung adenocarcinoma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086600" y="5193792"/>
            <a:ext cx="100584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086600" y="519379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PRAD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229600" y="519379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Prostate adenocarcinoma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This is a genuinely unsupervised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data is sparse, skewed, and high-dimensional.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1828800"/>
            <a:ext cx="6035040" cy="13716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57200" y="1828800"/>
            <a:ext cx="73152" cy="13716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77240" y="20574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~30%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200400" y="210312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of values are exactly zero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77240" y="2606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RNA-Seq sparsity is expected; handled via log1p transform.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3364992"/>
            <a:ext cx="6035040" cy="13716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57200" y="3364992"/>
            <a:ext cx="73152" cy="13716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77240" y="359359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Right-skewed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00400" y="363931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non-zero distribution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77240" y="414223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Distance metrics are distorted without normalisation.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4901184"/>
            <a:ext cx="6035040" cy="13716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57200" y="4901184"/>
            <a:ext cx="73152" cy="13716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777240" y="512978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267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400" y="5175504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zero-variance genes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77240" y="5678424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Pure noise across all 801 patients — removed before modelling.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766560" y="1828800"/>
            <a:ext cx="4937760" cy="45720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040880" y="20574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DISTRIBUTION  ·  BEFORE vs AFTER log1p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178040" y="25146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Raw expression  ·  heavily right-skewed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7178040" y="406908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7269480" y="2834640"/>
            <a:ext cx="347472" cy="118872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662672" y="3238805"/>
            <a:ext cx="347472" cy="784555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8055864" y="3571646"/>
            <a:ext cx="347472" cy="45171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449056" y="3761842"/>
            <a:ext cx="347472" cy="261518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842248" y="3856939"/>
            <a:ext cx="347472" cy="166421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235440" y="3916375"/>
            <a:ext cx="347472" cy="106985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628632" y="3952037"/>
            <a:ext cx="347472" cy="71323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0021824" y="3975811"/>
            <a:ext cx="347472" cy="47549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0415016" y="3987698"/>
            <a:ext cx="347472" cy="3566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0808208" y="3999586"/>
            <a:ext cx="347472" cy="2377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178040" y="43434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After log1p  ·  approximately 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4"/>
          <p:cNvCxnSpPr/>
          <p:nvPr/>
        </p:nvCxnSpPr>
        <p:spPr>
          <a:xfrm>
            <a:off x="7178040" y="603504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4"/>
          <p:cNvSpPr/>
          <p:nvPr/>
        </p:nvSpPr>
        <p:spPr>
          <a:xfrm>
            <a:off x="7269480" y="5830214"/>
            <a:ext cx="347472" cy="159106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662672" y="5671109"/>
            <a:ext cx="347472" cy="318211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8055864" y="5419192"/>
            <a:ext cx="347472" cy="57012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449056" y="5154016"/>
            <a:ext cx="347472" cy="83530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8842248" y="4796028"/>
            <a:ext cx="347472" cy="119329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9235440" y="4663440"/>
            <a:ext cx="347472" cy="13258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9628632" y="4888840"/>
            <a:ext cx="347472" cy="11004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10021824" y="5260086"/>
            <a:ext cx="347472" cy="72923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10415016" y="5578297"/>
            <a:ext cx="347472" cy="411023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0808208" y="5803697"/>
            <a:ext cx="347472" cy="185623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Four steps to make the data model-ready.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303020" y="2011680"/>
            <a:ext cx="777240" cy="7772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303020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88620" y="2926080"/>
            <a:ext cx="2606040" cy="237744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71500" y="31089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Remove zero-variance genes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37260" y="3794760"/>
            <a:ext cx="1508760" cy="1828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71500" y="38862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267 genes removed.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20,264 remain.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 rot="5400000">
            <a:off x="3012948" y="3977640"/>
            <a:ext cx="274320" cy="274320"/>
          </a:xfrm>
          <a:prstGeom prst="rtTriangl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229100" y="2011680"/>
            <a:ext cx="777240" cy="7772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4229100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314700" y="2926080"/>
            <a:ext cx="2606040" cy="237744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497580" y="31089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log1p transform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863340" y="3794760"/>
            <a:ext cx="1508760" cy="1828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3497580" y="38862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log(1 + x) compresses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right-skewed counts;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zeros stay zero.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 rot="5400000">
            <a:off x="5939028" y="3977640"/>
            <a:ext cx="274320" cy="274320"/>
          </a:xfrm>
          <a:prstGeom prst="rtTriangl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155180" y="2011680"/>
            <a:ext cx="777240" cy="7772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7155180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240780" y="2926080"/>
            <a:ext cx="2606040" cy="237744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6423660" y="31089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StandardScaler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789420" y="3794760"/>
            <a:ext cx="1508760" cy="1828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423660" y="38862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gene → zero mean,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unit variance. Prevents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high-magnitude dominance.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 rot="5400000">
            <a:off x="8865108" y="3977640"/>
            <a:ext cx="274320" cy="274320"/>
          </a:xfrm>
          <a:prstGeom prst="rtTriangl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0081260" y="2011680"/>
            <a:ext cx="777240" cy="7772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10081260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9166860" y="2926080"/>
            <a:ext cx="2606040" cy="237744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349740" y="31089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9715500" y="3794760"/>
            <a:ext cx="1508760" cy="1828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9349740" y="38862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20,264 → 548 PCs.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Retain 95% variance.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Tractable &amp; denoised.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From 20,531 raw genes  →  548 principal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95% of variance captured in 548 components — a 37× compression.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7200" y="1828800"/>
            <a:ext cx="5486400" cy="384048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731520" y="20574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Explained variance per 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6"/>
          <p:cNvCxnSpPr/>
          <p:nvPr/>
        </p:nvCxnSpPr>
        <p:spPr>
          <a:xfrm>
            <a:off x="1005840" y="516636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>
            <a:off x="1005840" y="2606040"/>
            <a:ext cx="0" cy="256032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6"/>
          <p:cNvSpPr/>
          <p:nvPr/>
        </p:nvSpPr>
        <p:spPr>
          <a:xfrm>
            <a:off x="1014984" y="2734056"/>
            <a:ext cx="134112" cy="2432304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167384" y="3134729"/>
            <a:ext cx="134112" cy="2031631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1319784" y="3469399"/>
            <a:ext cx="134112" cy="1696961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1472184" y="3748939"/>
            <a:ext cx="134112" cy="1417421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1624584" y="3982431"/>
            <a:ext cx="134112" cy="1183929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1776984" y="4177459"/>
            <a:ext cx="134112" cy="988901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1929384" y="4340360"/>
            <a:ext cx="134112" cy="82600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081784" y="4476427"/>
            <a:ext cx="134112" cy="689933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2234184" y="4590080"/>
            <a:ext cx="134112" cy="57628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2386584" y="4685010"/>
            <a:ext cx="134112" cy="48135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2538984" y="4764303"/>
            <a:ext cx="134112" cy="402057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2691384" y="4830534"/>
            <a:ext cx="134112" cy="335826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2843784" y="4885854"/>
            <a:ext cx="134112" cy="280506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2996184" y="4932062"/>
            <a:ext cx="134112" cy="23429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148584" y="4970658"/>
            <a:ext cx="134112" cy="195702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3300984" y="5002896"/>
            <a:ext cx="134112" cy="163464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3453384" y="5029823"/>
            <a:ext cx="134112" cy="136537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605784" y="5052315"/>
            <a:ext cx="134112" cy="114045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3758184" y="5071102"/>
            <a:ext cx="134112" cy="95258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910584" y="5086793"/>
            <a:ext cx="134112" cy="79567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062984" y="5099900"/>
            <a:ext cx="134112" cy="6646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215384" y="5110848"/>
            <a:ext cx="134112" cy="55512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367784" y="5119993"/>
            <a:ext cx="134112" cy="46367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520184" y="5127631"/>
            <a:ext cx="134112" cy="38729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672584" y="5134011"/>
            <a:ext cx="134112" cy="32349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824984" y="5139340"/>
            <a:ext cx="134112" cy="2702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4977384" y="5143791"/>
            <a:ext cx="134112" cy="22569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5129784" y="5147508"/>
            <a:ext cx="134112" cy="18852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5282184" y="5150614"/>
            <a:ext cx="134112" cy="15746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5434584" y="5153208"/>
            <a:ext cx="134112" cy="13152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1005840" y="5212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Component index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217920" y="1828800"/>
            <a:ext cx="5486400" cy="384048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492240" y="20574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Cumulative explained variance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6"/>
          <p:cNvCxnSpPr/>
          <p:nvPr/>
        </p:nvCxnSpPr>
        <p:spPr>
          <a:xfrm>
            <a:off x="6858000" y="516636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6"/>
          <p:cNvCxnSpPr/>
          <p:nvPr/>
        </p:nvCxnSpPr>
        <p:spPr>
          <a:xfrm>
            <a:off x="6858000" y="2606040"/>
            <a:ext cx="0" cy="256032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6"/>
          <p:cNvCxnSpPr/>
          <p:nvPr/>
        </p:nvCxnSpPr>
        <p:spPr>
          <a:xfrm flipH="1" rot="10800000">
            <a:off x="6858000" y="4809728"/>
            <a:ext cx="224028" cy="356632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6"/>
          <p:cNvCxnSpPr/>
          <p:nvPr/>
        </p:nvCxnSpPr>
        <p:spPr>
          <a:xfrm flipH="1" rot="10800000">
            <a:off x="7082028" y="4502772"/>
            <a:ext cx="224028" cy="30695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6"/>
          <p:cNvCxnSpPr/>
          <p:nvPr/>
        </p:nvCxnSpPr>
        <p:spPr>
          <a:xfrm flipH="1" rot="10800000">
            <a:off x="7306056" y="4238572"/>
            <a:ext cx="224028" cy="26420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6"/>
          <p:cNvCxnSpPr/>
          <p:nvPr/>
        </p:nvCxnSpPr>
        <p:spPr>
          <a:xfrm flipH="1" rot="10800000">
            <a:off x="7530084" y="4011173"/>
            <a:ext cx="224028" cy="227399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6"/>
          <p:cNvCxnSpPr/>
          <p:nvPr/>
        </p:nvCxnSpPr>
        <p:spPr>
          <a:xfrm flipH="1" rot="10800000">
            <a:off x="7754112" y="3815449"/>
            <a:ext cx="224028" cy="195724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6"/>
          <p:cNvCxnSpPr/>
          <p:nvPr/>
        </p:nvCxnSpPr>
        <p:spPr>
          <a:xfrm flipH="1" rot="10800000">
            <a:off x="7978140" y="3646989"/>
            <a:ext cx="224028" cy="168461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6"/>
          <p:cNvCxnSpPr/>
          <p:nvPr/>
        </p:nvCxnSpPr>
        <p:spPr>
          <a:xfrm flipH="1" rot="10800000">
            <a:off x="8202168" y="3501992"/>
            <a:ext cx="224028" cy="14499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6"/>
          <p:cNvCxnSpPr/>
          <p:nvPr/>
        </p:nvCxnSpPr>
        <p:spPr>
          <a:xfrm flipH="1" rot="10800000">
            <a:off x="8426196" y="3377194"/>
            <a:ext cx="224028" cy="124799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6"/>
          <p:cNvCxnSpPr/>
          <p:nvPr/>
        </p:nvCxnSpPr>
        <p:spPr>
          <a:xfrm flipH="1" rot="10800000">
            <a:off x="8650224" y="3269778"/>
            <a:ext cx="224028" cy="10741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6"/>
          <p:cNvCxnSpPr/>
          <p:nvPr/>
        </p:nvCxnSpPr>
        <p:spPr>
          <a:xfrm flipH="1" rot="10800000">
            <a:off x="8874252" y="3177325"/>
            <a:ext cx="224028" cy="92453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6"/>
          <p:cNvCxnSpPr/>
          <p:nvPr/>
        </p:nvCxnSpPr>
        <p:spPr>
          <a:xfrm flipH="1" rot="10800000">
            <a:off x="9098280" y="3097750"/>
            <a:ext cx="224028" cy="79575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6"/>
          <p:cNvCxnSpPr/>
          <p:nvPr/>
        </p:nvCxnSpPr>
        <p:spPr>
          <a:xfrm flipH="1" rot="10800000">
            <a:off x="9322308" y="3029258"/>
            <a:ext cx="224028" cy="68491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6"/>
          <p:cNvCxnSpPr/>
          <p:nvPr/>
        </p:nvCxnSpPr>
        <p:spPr>
          <a:xfrm flipH="1" rot="10800000">
            <a:off x="9546336" y="2970307"/>
            <a:ext cx="224028" cy="58951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6"/>
          <p:cNvCxnSpPr/>
          <p:nvPr/>
        </p:nvCxnSpPr>
        <p:spPr>
          <a:xfrm flipH="1" rot="10800000">
            <a:off x="9770364" y="2919567"/>
            <a:ext cx="224028" cy="5074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6"/>
          <p:cNvCxnSpPr/>
          <p:nvPr/>
        </p:nvCxnSpPr>
        <p:spPr>
          <a:xfrm flipH="1" rot="10800000">
            <a:off x="9994392" y="2875896"/>
            <a:ext cx="224028" cy="43672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6"/>
          <p:cNvCxnSpPr/>
          <p:nvPr/>
        </p:nvCxnSpPr>
        <p:spPr>
          <a:xfrm flipH="1" rot="10800000">
            <a:off x="10218420" y="2838307"/>
            <a:ext cx="224028" cy="37589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6"/>
          <p:cNvCxnSpPr/>
          <p:nvPr/>
        </p:nvCxnSpPr>
        <p:spPr>
          <a:xfrm flipH="1" rot="10800000">
            <a:off x="10442448" y="2805954"/>
            <a:ext cx="224028" cy="32353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6"/>
          <p:cNvCxnSpPr/>
          <p:nvPr/>
        </p:nvCxnSpPr>
        <p:spPr>
          <a:xfrm flipH="1" rot="10800000">
            <a:off x="10666476" y="2778108"/>
            <a:ext cx="224028" cy="2784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6"/>
          <p:cNvCxnSpPr/>
          <p:nvPr/>
        </p:nvCxnSpPr>
        <p:spPr>
          <a:xfrm flipH="1" rot="10800000">
            <a:off x="10890504" y="2754140"/>
            <a:ext cx="224028" cy="23968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6"/>
          <p:cNvCxnSpPr/>
          <p:nvPr/>
        </p:nvCxnSpPr>
        <p:spPr>
          <a:xfrm flipH="1" rot="10800000">
            <a:off x="11114532" y="2733511"/>
            <a:ext cx="224028" cy="20629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6"/>
          <p:cNvCxnSpPr/>
          <p:nvPr/>
        </p:nvCxnSpPr>
        <p:spPr>
          <a:xfrm>
            <a:off x="6858000" y="3578962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8" name="Google Shape;258;p6"/>
          <p:cNvSpPr/>
          <p:nvPr/>
        </p:nvSpPr>
        <p:spPr>
          <a:xfrm>
            <a:off x="9738360" y="332293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80%  ·  196 PCs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6"/>
          <p:cNvCxnSpPr/>
          <p:nvPr/>
        </p:nvCxnSpPr>
        <p:spPr>
          <a:xfrm>
            <a:off x="6858000" y="316931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FBBF2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0" name="Google Shape;260;p6"/>
          <p:cNvSpPr/>
          <p:nvPr/>
        </p:nvSpPr>
        <p:spPr>
          <a:xfrm>
            <a:off x="9738360" y="291327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90%  ·  392 PCs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6"/>
          <p:cNvCxnSpPr/>
          <p:nvPr/>
        </p:nvCxnSpPr>
        <p:spPr>
          <a:xfrm>
            <a:off x="6858000" y="2810866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14B8A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2" name="Google Shape;262;p6"/>
          <p:cNvSpPr/>
          <p:nvPr/>
        </p:nvSpPr>
        <p:spPr>
          <a:xfrm>
            <a:off x="9738360" y="255483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95%  ·  548 PCs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457200" y="5852160"/>
            <a:ext cx="73152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Most biological signal is concentrated in a small subspace — ideal for clustering.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Two algorithm families, four variants, all at k = 5.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57200" y="1874520"/>
            <a:ext cx="5486400" cy="44805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457200" y="1874520"/>
            <a:ext cx="73152" cy="448056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822960" y="21945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822960" y="258775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Centroid-based partitioning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822960" y="3017520"/>
            <a:ext cx="47548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Minimises within-cluster sum of squared distances.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 swept from 2 to 10 with elbow + silhouette diagnostics.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 = 5 confirmed as the natural choice (matches 5 known subtypes).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Final model: k = 5, 50 random restarts for stability.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217920" y="1874520"/>
            <a:ext cx="5486400" cy="44805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217920" y="1874520"/>
            <a:ext cx="73152" cy="448056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AGGLOMERATIVE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583680" y="258775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Bottom-up hierarchical clustering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583680" y="301752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Starts with 801 single-patient clusters; merges greedily.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Three linkage criteria tested at k = 5: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675120" y="4206240"/>
            <a:ext cx="4572000" cy="59436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6675120" y="4206240"/>
            <a:ext cx="54864" cy="59436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858000" y="4206240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8138160" y="42062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minimise variance increase per 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675120" y="4892040"/>
            <a:ext cx="4572000" cy="59436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6675120" y="4892040"/>
            <a:ext cx="54864" cy="59436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858000" y="4892040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138160" y="48920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 maximum pairwise distance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675120" y="5577840"/>
            <a:ext cx="4572000" cy="59436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6675120" y="5577840"/>
            <a:ext cx="54864" cy="594360"/>
          </a:xfrm>
          <a:prstGeom prst="rect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6858000" y="5577840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8138160" y="55778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 mean pairwise distance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SELECTING 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Both diagnostics point to k = 5.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57200" y="1828800"/>
            <a:ext cx="5486400" cy="40233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822960" y="2103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INERTIA  vs  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822960" y="23774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clear bend at k =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8"/>
          <p:cNvCxnSpPr/>
          <p:nvPr/>
        </p:nvCxnSpPr>
        <p:spPr>
          <a:xfrm>
            <a:off x="1097280" y="534924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8"/>
          <p:cNvCxnSpPr/>
          <p:nvPr/>
        </p:nvCxnSpPr>
        <p:spPr>
          <a:xfrm>
            <a:off x="1097280" y="2788920"/>
            <a:ext cx="0" cy="256032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8"/>
          <p:cNvCxnSpPr/>
          <p:nvPr/>
        </p:nvCxnSpPr>
        <p:spPr>
          <a:xfrm>
            <a:off x="1097280" y="3044952"/>
            <a:ext cx="560070" cy="506943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8"/>
          <p:cNvCxnSpPr/>
          <p:nvPr/>
        </p:nvCxnSpPr>
        <p:spPr>
          <a:xfrm>
            <a:off x="1657350" y="3551895"/>
            <a:ext cx="560070" cy="52998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8"/>
          <p:cNvCxnSpPr/>
          <p:nvPr/>
        </p:nvCxnSpPr>
        <p:spPr>
          <a:xfrm>
            <a:off x="2217420" y="4081882"/>
            <a:ext cx="560070" cy="52998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8"/>
          <p:cNvCxnSpPr/>
          <p:nvPr/>
        </p:nvCxnSpPr>
        <p:spPr>
          <a:xfrm>
            <a:off x="2777490" y="4611868"/>
            <a:ext cx="560070" cy="230429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8"/>
          <p:cNvCxnSpPr/>
          <p:nvPr/>
        </p:nvCxnSpPr>
        <p:spPr>
          <a:xfrm>
            <a:off x="3337560" y="4842297"/>
            <a:ext cx="560070" cy="92172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8"/>
          <p:cNvCxnSpPr/>
          <p:nvPr/>
        </p:nvCxnSpPr>
        <p:spPr>
          <a:xfrm>
            <a:off x="3897630" y="4934468"/>
            <a:ext cx="560070" cy="4608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8"/>
          <p:cNvCxnSpPr/>
          <p:nvPr/>
        </p:nvCxnSpPr>
        <p:spPr>
          <a:xfrm>
            <a:off x="4457700" y="4980554"/>
            <a:ext cx="560070" cy="4608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8"/>
          <p:cNvCxnSpPr/>
          <p:nvPr/>
        </p:nvCxnSpPr>
        <p:spPr>
          <a:xfrm>
            <a:off x="5017770" y="5026640"/>
            <a:ext cx="560070" cy="23043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8"/>
          <p:cNvSpPr/>
          <p:nvPr/>
        </p:nvSpPr>
        <p:spPr>
          <a:xfrm>
            <a:off x="1033272" y="2980944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1593342" y="3487887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2153412" y="4017874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2713482" y="4547860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3273552" y="4778289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3833622" y="4870460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4393692" y="4916546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4953762" y="4962632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5513832" y="4985675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" name="Google Shape;330;p8"/>
          <p:cNvCxnSpPr/>
          <p:nvPr/>
        </p:nvCxnSpPr>
        <p:spPr>
          <a:xfrm>
            <a:off x="2777490" y="2788920"/>
            <a:ext cx="0" cy="2560320"/>
          </a:xfrm>
          <a:prstGeom prst="straightConnector1">
            <a:avLst/>
          </a:prstGeom>
          <a:noFill/>
          <a:ln cap="flat" cmpd="sng" w="19050">
            <a:solidFill>
              <a:srgbClr val="F8717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1" name="Google Shape;331;p8"/>
          <p:cNvSpPr/>
          <p:nvPr/>
        </p:nvSpPr>
        <p:spPr>
          <a:xfrm>
            <a:off x="2320290" y="27432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k =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1097280" y="539496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 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6217920" y="1828800"/>
            <a:ext cx="5486400" cy="40233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6583680" y="2103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SILHOUETTE  vs  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6583680" y="23774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local maximum at k =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8"/>
          <p:cNvCxnSpPr/>
          <p:nvPr/>
        </p:nvCxnSpPr>
        <p:spPr>
          <a:xfrm>
            <a:off x="6858000" y="534924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8"/>
          <p:cNvCxnSpPr/>
          <p:nvPr/>
        </p:nvCxnSpPr>
        <p:spPr>
          <a:xfrm>
            <a:off x="6858000" y="2788920"/>
            <a:ext cx="0" cy="256032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8"/>
          <p:cNvCxnSpPr/>
          <p:nvPr/>
        </p:nvCxnSpPr>
        <p:spPr>
          <a:xfrm flipH="1" rot="10800000">
            <a:off x="6858000" y="4081882"/>
            <a:ext cx="560070" cy="345643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8"/>
          <p:cNvCxnSpPr/>
          <p:nvPr/>
        </p:nvCxnSpPr>
        <p:spPr>
          <a:xfrm flipH="1" rot="10800000">
            <a:off x="7418070" y="3966668"/>
            <a:ext cx="560070" cy="115214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8"/>
          <p:cNvCxnSpPr/>
          <p:nvPr/>
        </p:nvCxnSpPr>
        <p:spPr>
          <a:xfrm flipH="1" rot="10800000">
            <a:off x="7978140" y="3551895"/>
            <a:ext cx="560070" cy="414772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8"/>
          <p:cNvCxnSpPr/>
          <p:nvPr/>
        </p:nvCxnSpPr>
        <p:spPr>
          <a:xfrm>
            <a:off x="8538210" y="3551895"/>
            <a:ext cx="560070" cy="368686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8"/>
          <p:cNvCxnSpPr/>
          <p:nvPr/>
        </p:nvCxnSpPr>
        <p:spPr>
          <a:xfrm>
            <a:off x="9098280" y="3920581"/>
            <a:ext cx="560070" cy="16130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8"/>
          <p:cNvCxnSpPr/>
          <p:nvPr/>
        </p:nvCxnSpPr>
        <p:spPr>
          <a:xfrm>
            <a:off x="9658350" y="4081882"/>
            <a:ext cx="560070" cy="16130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8"/>
          <p:cNvCxnSpPr/>
          <p:nvPr/>
        </p:nvCxnSpPr>
        <p:spPr>
          <a:xfrm>
            <a:off x="10218420" y="4243182"/>
            <a:ext cx="560070" cy="138257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8"/>
          <p:cNvCxnSpPr/>
          <p:nvPr/>
        </p:nvCxnSpPr>
        <p:spPr>
          <a:xfrm>
            <a:off x="10778490" y="4381439"/>
            <a:ext cx="560070" cy="92172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8"/>
          <p:cNvSpPr/>
          <p:nvPr/>
        </p:nvSpPr>
        <p:spPr>
          <a:xfrm>
            <a:off x="6793992" y="4363517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7354062" y="4017874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7914132" y="3902659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8474202" y="3487887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9034272" y="3856573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9594342" y="4017874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10154412" y="4179174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10714482" y="4317431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11274552" y="4409603"/>
            <a:ext cx="128016" cy="128016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5" name="Google Shape;355;p8"/>
          <p:cNvCxnSpPr/>
          <p:nvPr/>
        </p:nvCxnSpPr>
        <p:spPr>
          <a:xfrm>
            <a:off x="8538210" y="2788920"/>
            <a:ext cx="0" cy="2560320"/>
          </a:xfrm>
          <a:prstGeom prst="straightConnector1">
            <a:avLst/>
          </a:prstGeom>
          <a:noFill/>
          <a:ln cap="flat" cmpd="sng" w="19050">
            <a:solidFill>
              <a:srgbClr val="F8717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/>
          <p:nvPr/>
        </p:nvSpPr>
        <p:spPr>
          <a:xfrm>
            <a:off x="8081010" y="27432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k =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858000" y="539496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 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457200" y="5989320"/>
            <a:ext cx="73152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k = 5 emerges naturally — without using any label information.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2D VISUALISATION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Five distinct islands — one per cancer type.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457200" y="1783080"/>
            <a:ext cx="3566160" cy="19659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85800" y="19476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UMAP  ·  true labels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1260864" y="2696778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1097684" y="2661204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1019524" y="2527570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1260157" y="250282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1443810" y="243528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1505818" y="2563137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1643356" y="2644798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1452936" y="268965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1363656" y="2778235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1128031" y="2798918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1131975" y="2653889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1054508" y="2534127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2950200" y="259303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2846477" y="2675883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2608552" y="2682492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2636854" y="2538421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2579904" y="2414664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2803918" y="2415616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2974776" y="2360446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2993178" y="2481622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3110871" y="2557598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3077427" y="2697664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2844393" y="2654278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2629062" y="266442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3047606" y="320026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2883239" y="3233861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2680589" y="3159524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2840912" y="305010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2911561" y="292886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3095544" y="300478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3289008" y="3016546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3188997" y="312272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3213904" y="3224904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3053145" y="332928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2902060" y="321533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2714690" y="3151493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1441690" y="3251451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1370968" y="3157140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1477915" y="303073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1675457" y="3116019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1884984" y="3147211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1773762" y="326270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1770956" y="3378203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1584115" y="3328321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1414924" y="335199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1225781" y="3266017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1403694" y="3166654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1494369" y="3050209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2237358" y="2794430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2411174" y="2795482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2560189" y="2905844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2347417" y="2977039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2212469" y="3077217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2081932" y="2969086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1906282" y="291950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2060402" y="2839360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2094562" y="2738131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2304907" y="2671762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2382990" y="2809197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2523528" y="2906626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4206240" y="1783080"/>
            <a:ext cx="3566160" cy="19659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4434840" y="19476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UMAP  ·  K-Means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4945974" y="2748943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4741248" y="2676640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4898451" y="2565639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4965658" y="244371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5151764" y="2517774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9"/>
          <p:cNvSpPr/>
          <p:nvPr/>
        </p:nvSpPr>
        <p:spPr>
          <a:xfrm>
            <a:off x="5345533" y="2527607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5248542" y="263477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5276339" y="2736685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"/>
          <p:cNvSpPr/>
          <p:nvPr/>
        </p:nvSpPr>
        <p:spPr>
          <a:xfrm>
            <a:off x="5118557" y="284266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4964267" y="2730227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4775117" y="2668270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4932339" y="2573488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6765326" y="2644244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6590519" y="274033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6455899" y="2619314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6278108" y="2546451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6450476" y="246146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6521315" y="2353894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6666823" y="2439533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6839247" y="2452610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9"/>
          <p:cNvSpPr/>
          <p:nvPr/>
        </p:nvSpPr>
        <p:spPr>
          <a:xfrm>
            <a:off x="6965590" y="257253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6740298" y="262851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6586612" y="2718671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6478183" y="2602240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6802507" y="3264696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6566882" y="328537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6570826" y="314034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6493359" y="302058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6716414" y="3008252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6877145" y="2943227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6915823" y="3062706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7045699" y="3131324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7035965" y="3272673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6796803" y="3243322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6584253" y="326618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6605450" y="3133731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9"/>
          <p:cNvSpPr/>
          <p:nvPr/>
        </p:nvSpPr>
        <p:spPr>
          <a:xfrm>
            <a:off x="5083186" y="326055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9"/>
          <p:cNvSpPr/>
          <p:nvPr/>
        </p:nvSpPr>
        <p:spPr>
          <a:xfrm>
            <a:off x="5027879" y="312295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9"/>
          <p:cNvSpPr/>
          <p:nvPr/>
        </p:nvSpPr>
        <p:spPr>
          <a:xfrm>
            <a:off x="5271470" y="3112599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5465557" y="305628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9"/>
          <p:cNvSpPr/>
          <p:nvPr/>
        </p:nvSpPr>
        <p:spPr>
          <a:xfrm>
            <a:off x="5505765" y="3187179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9"/>
          <p:cNvSpPr/>
          <p:nvPr/>
        </p:nvSpPr>
        <p:spPr>
          <a:xfrm>
            <a:off x="5628890" y="327658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9"/>
          <p:cNvSpPr/>
          <p:nvPr/>
        </p:nvSpPr>
        <p:spPr>
          <a:xfrm>
            <a:off x="5431882" y="330992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9"/>
          <p:cNvSpPr/>
          <p:nvPr/>
        </p:nvSpPr>
        <p:spPr>
          <a:xfrm>
            <a:off x="5328158" y="3392773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9"/>
          <p:cNvSpPr/>
          <p:nvPr/>
        </p:nvSpPr>
        <p:spPr>
          <a:xfrm>
            <a:off x="5090234" y="3399382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9"/>
          <p:cNvSpPr/>
          <p:nvPr/>
        </p:nvSpPr>
        <p:spPr>
          <a:xfrm>
            <a:off x="5118536" y="3255311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9"/>
          <p:cNvSpPr/>
          <p:nvPr/>
        </p:nvSpPr>
        <p:spPr>
          <a:xfrm>
            <a:off x="5061585" y="3131554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9"/>
          <p:cNvSpPr/>
          <p:nvPr/>
        </p:nvSpPr>
        <p:spPr>
          <a:xfrm>
            <a:off x="5285600" y="313250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6017212" y="2732560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9"/>
          <p:cNvSpPr/>
          <p:nvPr/>
        </p:nvSpPr>
        <p:spPr>
          <a:xfrm>
            <a:off x="6250889" y="2759952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9"/>
          <p:cNvSpPr/>
          <p:nvPr/>
        </p:nvSpPr>
        <p:spPr>
          <a:xfrm>
            <a:off x="6165375" y="2895817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9"/>
          <p:cNvSpPr/>
          <p:nvPr/>
        </p:nvSpPr>
        <p:spPr>
          <a:xfrm>
            <a:off x="6170820" y="3024072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/>
          <p:nvPr/>
        </p:nvSpPr>
        <p:spPr>
          <a:xfrm>
            <a:off x="5953694" y="2991316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9"/>
          <p:cNvSpPr/>
          <p:nvPr/>
        </p:nvSpPr>
        <p:spPr>
          <a:xfrm>
            <a:off x="5765575" y="3020605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9"/>
          <p:cNvSpPr/>
          <p:nvPr/>
        </p:nvSpPr>
        <p:spPr>
          <a:xfrm>
            <a:off x="5796519" y="2900333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9"/>
          <p:cNvSpPr/>
          <p:nvPr/>
        </p:nvSpPr>
        <p:spPr>
          <a:xfrm>
            <a:off x="5712849" y="2809839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9"/>
          <p:cNvSpPr/>
          <p:nvPr/>
        </p:nvSpPr>
        <p:spPr>
          <a:xfrm>
            <a:off x="5801743" y="2678594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9"/>
          <p:cNvSpPr/>
          <p:nvPr/>
        </p:nvSpPr>
        <p:spPr>
          <a:xfrm>
            <a:off x="6010532" y="2753834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9"/>
          <p:cNvSpPr/>
          <p:nvPr/>
        </p:nvSpPr>
        <p:spPr>
          <a:xfrm>
            <a:off x="6223698" y="277457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9"/>
          <p:cNvSpPr/>
          <p:nvPr/>
        </p:nvSpPr>
        <p:spPr>
          <a:xfrm>
            <a:off x="6129018" y="2895164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457200" y="3931920"/>
            <a:ext cx="3566160" cy="19659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685800" y="40965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t-SNE  ·  true labels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1145312" y="4922093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1050061" y="478853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897592" y="469765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1093142" y="4632737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1195788" y="4534630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9"/>
          <p:cNvSpPr/>
          <p:nvPr/>
        </p:nvSpPr>
        <p:spPr>
          <a:xfrm>
            <a:off x="1312595" y="4634580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1478124" y="4666093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"/>
          <p:cNvSpPr/>
          <p:nvPr/>
        </p:nvSpPr>
        <p:spPr>
          <a:xfrm>
            <a:off x="1565572" y="479768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1326880" y="482835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1148115" y="4900369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9"/>
          <p:cNvSpPr/>
          <p:nvPr/>
        </p:nvSpPr>
        <p:spPr>
          <a:xfrm>
            <a:off x="1077209" y="4774155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9"/>
          <p:cNvSpPr/>
          <p:nvPr/>
        </p:nvSpPr>
        <p:spPr>
          <a:xfrm>
            <a:off x="934073" y="469596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3059329" y="4991501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9"/>
          <p:cNvSpPr/>
          <p:nvPr/>
        </p:nvSpPr>
        <p:spPr>
          <a:xfrm>
            <a:off x="2905038" y="487906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9"/>
          <p:cNvSpPr/>
          <p:nvPr/>
        </p:nvSpPr>
        <p:spPr>
          <a:xfrm>
            <a:off x="2715888" y="4817110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2873110" y="4722328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2925515" y="4611094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3084690" y="468767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3258451" y="469046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3404321" y="4802299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3189564" y="4871360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3051799" y="4970176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2924342" y="486075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2750120" y="4809432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3035311" y="5554932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9"/>
          <p:cNvSpPr/>
          <p:nvPr/>
        </p:nvSpPr>
        <p:spPr>
          <a:xfrm>
            <a:off x="2966918" y="541568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2833322" y="5314872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3040277" y="5263936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3161475" y="5173604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3257873" y="528095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3416090" y="5323715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3477120" y="546046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3234036" y="5474397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3042357" y="553355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2996702" y="540328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2869885" y="5315718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1145249" y="5518502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217264" y="5379903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1199223" y="525205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"/>
          <p:cNvSpPr/>
          <p:nvPr/>
        </p:nvSpPr>
        <p:spPr>
          <a:xfrm>
            <a:off x="1419198" y="527722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1604118" y="5241467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9"/>
          <p:cNvSpPr/>
          <p:nvPr/>
        </p:nvSpPr>
        <p:spPr>
          <a:xfrm>
            <a:off x="1585047" y="536260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9"/>
          <p:cNvSpPr/>
          <p:nvPr/>
        </p:nvSpPr>
        <p:spPr>
          <a:xfrm>
            <a:off x="1677469" y="545004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9"/>
          <p:cNvSpPr/>
          <p:nvPr/>
        </p:nvSpPr>
        <p:spPr>
          <a:xfrm>
            <a:off x="1601626" y="5584149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"/>
          <p:cNvSpPr/>
          <p:nvPr/>
        </p:nvSpPr>
        <p:spPr>
          <a:xfrm>
            <a:off x="1385797" y="551627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9"/>
          <p:cNvSpPr/>
          <p:nvPr/>
        </p:nvSpPr>
        <p:spPr>
          <a:xfrm>
            <a:off x="1170956" y="550295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9"/>
          <p:cNvSpPr/>
          <p:nvPr/>
        </p:nvSpPr>
        <p:spPr>
          <a:xfrm>
            <a:off x="1253623" y="5379294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9"/>
          <p:cNvSpPr/>
          <p:nvPr/>
        </p:nvSpPr>
        <p:spPr>
          <a:xfrm>
            <a:off x="1228960" y="5264720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"/>
          <p:cNvSpPr/>
          <p:nvPr/>
        </p:nvSpPr>
        <p:spPr>
          <a:xfrm>
            <a:off x="2606324" y="4938941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9"/>
          <p:cNvSpPr/>
          <p:nvPr/>
        </p:nvSpPr>
        <p:spPr>
          <a:xfrm>
            <a:off x="2567960" y="508218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9"/>
          <p:cNvSpPr/>
          <p:nvPr/>
        </p:nvSpPr>
        <p:spPr>
          <a:xfrm>
            <a:off x="2616197" y="5207244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9"/>
          <p:cNvSpPr/>
          <p:nvPr/>
        </p:nvSpPr>
        <p:spPr>
          <a:xfrm>
            <a:off x="2392443" y="5200761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9"/>
          <p:cNvSpPr/>
          <p:nvPr/>
        </p:nvSpPr>
        <p:spPr>
          <a:xfrm>
            <a:off x="2217871" y="5251664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9"/>
          <p:cNvSpPr/>
          <p:nvPr/>
        </p:nvSpPr>
        <p:spPr>
          <a:xfrm>
            <a:off x="2207968" y="513013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9"/>
          <p:cNvSpPr/>
          <p:nvPr/>
        </p:nvSpPr>
        <p:spPr>
          <a:xfrm>
            <a:off x="2095696" y="5051321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9"/>
          <p:cNvSpPr/>
          <p:nvPr/>
        </p:nvSpPr>
        <p:spPr>
          <a:xfrm>
            <a:off x="2138917" y="4912203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9"/>
          <p:cNvSpPr/>
          <p:nvPr/>
        </p:nvSpPr>
        <p:spPr>
          <a:xfrm>
            <a:off x="2368712" y="4961306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9"/>
          <p:cNvSpPr/>
          <p:nvPr/>
        </p:nvSpPr>
        <p:spPr>
          <a:xfrm>
            <a:off x="2584567" y="4956483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9"/>
          <p:cNvSpPr/>
          <p:nvPr/>
        </p:nvSpPr>
        <p:spPr>
          <a:xfrm>
            <a:off x="2532110" y="508583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9"/>
          <p:cNvSpPr/>
          <p:nvPr/>
        </p:nvSpPr>
        <p:spPr>
          <a:xfrm>
            <a:off x="2583750" y="5197199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9"/>
          <p:cNvSpPr/>
          <p:nvPr/>
        </p:nvSpPr>
        <p:spPr>
          <a:xfrm>
            <a:off x="4206240" y="3931920"/>
            <a:ext cx="3566160" cy="196596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9"/>
          <p:cNvSpPr/>
          <p:nvPr/>
        </p:nvSpPr>
        <p:spPr>
          <a:xfrm>
            <a:off x="4434840" y="40965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t-SNE  ·  K-Means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4927260" y="4838316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9"/>
          <p:cNvSpPr/>
          <p:nvPr/>
        </p:nvSpPr>
        <p:spPr>
          <a:xfrm>
            <a:off x="4712072" y="4827146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9"/>
          <p:cNvSpPr/>
          <p:nvPr/>
        </p:nvSpPr>
        <p:spPr>
          <a:xfrm>
            <a:off x="4791226" y="4702674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9"/>
          <p:cNvSpPr/>
          <p:nvPr/>
        </p:nvSpPr>
        <p:spPr>
          <a:xfrm>
            <a:off x="4763323" y="458836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9"/>
          <p:cNvSpPr/>
          <p:nvPr/>
        </p:nvSpPr>
        <p:spPr>
          <a:xfrm>
            <a:off x="4961072" y="4620114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9"/>
          <p:cNvSpPr/>
          <p:nvPr/>
        </p:nvSpPr>
        <p:spPr>
          <a:xfrm>
            <a:off x="5121857" y="458088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9"/>
          <p:cNvSpPr/>
          <p:nvPr/>
        </p:nvSpPr>
        <p:spPr>
          <a:xfrm>
            <a:off x="5331468" y="4648065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9"/>
          <p:cNvSpPr/>
          <p:nvPr/>
        </p:nvSpPr>
        <p:spPr>
          <a:xfrm>
            <a:off x="5182172" y="4762853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9"/>
          <p:cNvSpPr/>
          <p:nvPr/>
        </p:nvSpPr>
        <p:spPr>
          <a:xfrm>
            <a:off x="5123559" y="4886335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9"/>
          <p:cNvSpPr/>
          <p:nvPr/>
        </p:nvSpPr>
        <p:spPr>
          <a:xfrm>
            <a:off x="4932430" y="4816932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9"/>
          <p:cNvSpPr/>
          <p:nvPr/>
        </p:nvSpPr>
        <p:spPr>
          <a:xfrm>
            <a:off x="4738140" y="4811894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9"/>
          <p:cNvSpPr/>
          <p:nvPr/>
        </p:nvSpPr>
        <p:spPr>
          <a:xfrm>
            <a:off x="4827544" y="4702426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9"/>
          <p:cNvSpPr/>
          <p:nvPr/>
        </p:nvSpPr>
        <p:spPr>
          <a:xfrm>
            <a:off x="6800554" y="4905599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9"/>
          <p:cNvSpPr/>
          <p:nvPr/>
        </p:nvSpPr>
        <p:spPr>
          <a:xfrm>
            <a:off x="6588681" y="493058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9"/>
          <p:cNvSpPr/>
          <p:nvPr/>
        </p:nvSpPr>
        <p:spPr>
          <a:xfrm>
            <a:off x="6606126" y="479793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9"/>
          <p:cNvSpPr/>
          <p:nvPr/>
        </p:nvSpPr>
        <p:spPr>
          <a:xfrm>
            <a:off x="6525557" y="469280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9"/>
          <p:cNvSpPr/>
          <p:nvPr/>
        </p:nvSpPr>
        <p:spPr>
          <a:xfrm>
            <a:off x="6730367" y="469047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9"/>
          <p:cNvSpPr/>
          <p:nvPr/>
        </p:nvSpPr>
        <p:spPr>
          <a:xfrm>
            <a:off x="6866292" y="4626124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9"/>
          <p:cNvSpPr/>
          <p:nvPr/>
        </p:nvSpPr>
        <p:spPr>
          <a:xfrm>
            <a:off x="7099160" y="4655846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9"/>
          <p:cNvSpPr/>
          <p:nvPr/>
        </p:nvSpPr>
        <p:spPr>
          <a:xfrm>
            <a:off x="7009811" y="4790838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9"/>
          <p:cNvSpPr/>
          <p:nvPr/>
        </p:nvSpPr>
        <p:spPr>
          <a:xfrm>
            <a:off x="7011625" y="4919129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9"/>
          <p:cNvSpPr/>
          <p:nvPr/>
        </p:nvSpPr>
        <p:spPr>
          <a:xfrm>
            <a:off x="6795457" y="4884209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9"/>
          <p:cNvSpPr/>
          <p:nvPr/>
        </p:nvSpPr>
        <p:spPr>
          <a:xfrm>
            <a:off x="6606535" y="491161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9"/>
          <p:cNvSpPr/>
          <p:nvPr/>
        </p:nvSpPr>
        <p:spPr>
          <a:xfrm>
            <a:off x="6640880" y="4791670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9"/>
          <p:cNvSpPr/>
          <p:nvPr/>
        </p:nvSpPr>
        <p:spPr>
          <a:xfrm>
            <a:off x="6833474" y="5474004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9"/>
          <p:cNvSpPr/>
          <p:nvPr/>
        </p:nvSpPr>
        <p:spPr>
          <a:xfrm>
            <a:off x="6621945" y="5448014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9"/>
          <p:cNvSpPr/>
          <p:nvPr/>
        </p:nvSpPr>
        <p:spPr>
          <a:xfrm>
            <a:off x="6724985" y="532986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9"/>
          <p:cNvSpPr/>
          <p:nvPr/>
        </p:nvSpPr>
        <p:spPr>
          <a:xfrm>
            <a:off x="6719703" y="5214405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9"/>
          <p:cNvSpPr/>
          <p:nvPr/>
        </p:nvSpPr>
        <p:spPr>
          <a:xfrm>
            <a:off x="6909874" y="525963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9"/>
          <p:cNvSpPr/>
          <p:nvPr/>
        </p:nvSpPr>
        <p:spPr>
          <a:xfrm>
            <a:off x="7077262" y="5231795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9"/>
          <p:cNvSpPr/>
          <p:nvPr/>
        </p:nvSpPr>
        <p:spPr>
          <a:xfrm>
            <a:off x="7272261" y="531303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9"/>
          <p:cNvSpPr/>
          <p:nvPr/>
        </p:nvSpPr>
        <p:spPr>
          <a:xfrm>
            <a:off x="7101457" y="5416701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9"/>
          <p:cNvSpPr/>
          <p:nvPr/>
        </p:nvSpPr>
        <p:spPr>
          <a:xfrm>
            <a:off x="7019013" y="5535285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9"/>
          <p:cNvSpPr/>
          <p:nvPr/>
        </p:nvSpPr>
        <p:spPr>
          <a:xfrm>
            <a:off x="6842805" y="5453124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9"/>
          <p:cNvSpPr/>
          <p:nvPr/>
        </p:nvSpPr>
        <p:spPr>
          <a:xfrm>
            <a:off x="6650828" y="543467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9"/>
          <p:cNvSpPr/>
          <p:nvPr/>
        </p:nvSpPr>
        <p:spPr>
          <a:xfrm>
            <a:off x="6761104" y="5332137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9"/>
          <p:cNvSpPr/>
          <p:nvPr/>
        </p:nvSpPr>
        <p:spPr>
          <a:xfrm>
            <a:off x="5010327" y="5467017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9"/>
          <p:cNvSpPr/>
          <p:nvPr/>
        </p:nvSpPr>
        <p:spPr>
          <a:xfrm>
            <a:off x="4857859" y="5376137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9"/>
          <p:cNvSpPr/>
          <p:nvPr/>
        </p:nvSpPr>
        <p:spPr>
          <a:xfrm>
            <a:off x="5053408" y="5311222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9"/>
          <p:cNvSpPr/>
          <p:nvPr/>
        </p:nvSpPr>
        <p:spPr>
          <a:xfrm>
            <a:off x="5156055" y="521311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9"/>
          <p:cNvSpPr/>
          <p:nvPr/>
        </p:nvSpPr>
        <p:spPr>
          <a:xfrm>
            <a:off x="5272862" y="5313064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9"/>
          <p:cNvSpPr/>
          <p:nvPr/>
        </p:nvSpPr>
        <p:spPr>
          <a:xfrm>
            <a:off x="5438391" y="534457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9"/>
          <p:cNvSpPr/>
          <p:nvPr/>
        </p:nvSpPr>
        <p:spPr>
          <a:xfrm>
            <a:off x="5525839" y="547616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9"/>
          <p:cNvSpPr/>
          <p:nvPr/>
        </p:nvSpPr>
        <p:spPr>
          <a:xfrm>
            <a:off x="5287146" y="5506836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9"/>
          <p:cNvSpPr/>
          <p:nvPr/>
        </p:nvSpPr>
        <p:spPr>
          <a:xfrm>
            <a:off x="5108381" y="5578853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9"/>
          <p:cNvSpPr/>
          <p:nvPr/>
        </p:nvSpPr>
        <p:spPr>
          <a:xfrm>
            <a:off x="5037476" y="5452640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9"/>
          <p:cNvSpPr/>
          <p:nvPr/>
        </p:nvSpPr>
        <p:spPr>
          <a:xfrm>
            <a:off x="4894339" y="537444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9"/>
          <p:cNvSpPr/>
          <p:nvPr/>
        </p:nvSpPr>
        <p:spPr>
          <a:xfrm>
            <a:off x="5081454" y="532492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9"/>
          <p:cNvSpPr/>
          <p:nvPr/>
        </p:nvSpPr>
        <p:spPr>
          <a:xfrm>
            <a:off x="6252719" y="4999636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9"/>
          <p:cNvSpPr/>
          <p:nvPr/>
        </p:nvSpPr>
        <p:spPr>
          <a:xfrm>
            <a:off x="6425255" y="5076827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9"/>
          <p:cNvSpPr/>
          <p:nvPr/>
        </p:nvSpPr>
        <p:spPr>
          <a:xfrm>
            <a:off x="6247087" y="5157483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9"/>
          <p:cNvSpPr/>
          <p:nvPr/>
        </p:nvSpPr>
        <p:spPr>
          <a:xfrm>
            <a:off x="6168778" y="5263211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9"/>
          <p:cNvSpPr/>
          <p:nvPr/>
        </p:nvSpPr>
        <p:spPr>
          <a:xfrm>
            <a:off x="6029392" y="5174053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9"/>
          <p:cNvSpPr/>
          <p:nvPr/>
        </p:nvSpPr>
        <p:spPr>
          <a:xfrm>
            <a:off x="5858032" y="515672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9"/>
          <p:cNvSpPr/>
          <p:nvPr/>
        </p:nvSpPr>
        <p:spPr>
          <a:xfrm>
            <a:off x="5740193" y="5033787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9"/>
          <p:cNvSpPr/>
          <p:nvPr/>
        </p:nvSpPr>
        <p:spPr>
          <a:xfrm>
            <a:off x="5969210" y="498341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9"/>
          <p:cNvSpPr/>
          <p:nvPr/>
        </p:nvSpPr>
        <p:spPr>
          <a:xfrm>
            <a:off x="6129075" y="4897137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9"/>
          <p:cNvSpPr/>
          <p:nvPr/>
        </p:nvSpPr>
        <p:spPr>
          <a:xfrm>
            <a:off x="6229259" y="5016145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9"/>
          <p:cNvSpPr/>
          <p:nvPr/>
        </p:nvSpPr>
        <p:spPr>
          <a:xfrm>
            <a:off x="6389542" y="5081559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9"/>
          <p:cNvSpPr/>
          <p:nvPr/>
        </p:nvSpPr>
        <p:spPr>
          <a:xfrm>
            <a:off x="6216065" y="5146264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9"/>
          <p:cNvSpPr/>
          <p:nvPr/>
        </p:nvSpPr>
        <p:spPr>
          <a:xfrm>
            <a:off x="7955280" y="1783080"/>
            <a:ext cx="3749040" cy="41148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9"/>
          <p:cNvSpPr/>
          <p:nvPr/>
        </p:nvSpPr>
        <p:spPr>
          <a:xfrm>
            <a:off x="7955280" y="1783080"/>
            <a:ext cx="73152" cy="41148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9"/>
          <p:cNvSpPr/>
          <p:nvPr/>
        </p:nvSpPr>
        <p:spPr>
          <a:xfrm>
            <a:off x="8229600" y="20574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KEY OBSERVATION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9"/>
          <p:cNvSpPr/>
          <p:nvPr/>
        </p:nvSpPr>
        <p:spPr>
          <a:xfrm>
            <a:off x="8229600" y="2377440"/>
            <a:ext cx="3246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K-Means clusters align visually with the true subtype islands — minimal overlap in both embeddings.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9"/>
          <p:cNvSpPr/>
          <p:nvPr/>
        </p:nvSpPr>
        <p:spPr>
          <a:xfrm>
            <a:off x="8229600" y="3611880"/>
            <a:ext cx="3200400" cy="18288"/>
          </a:xfrm>
          <a:prstGeom prst="rect">
            <a:avLst/>
          </a:prstGeom>
          <a:solidFill>
            <a:srgbClr val="27355A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9"/>
          <p:cNvSpPr/>
          <p:nvPr/>
        </p:nvSpPr>
        <p:spPr>
          <a:xfrm>
            <a:off x="8229600" y="37490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METHOD NOTES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9"/>
          <p:cNvSpPr/>
          <p:nvPr/>
        </p:nvSpPr>
        <p:spPr>
          <a:xfrm>
            <a:off x="8229600" y="4069080"/>
            <a:ext cx="32461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t-SNE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Better local structure; cannot embed new points.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Preserves global structure; supports out-of-sample projection (used in production).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9"/>
          <p:cNvSpPr/>
          <p:nvPr/>
        </p:nvSpPr>
        <p:spPr>
          <a:xfrm>
            <a:off x="457200" y="6126480"/>
            <a:ext cx="182880" cy="18288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9"/>
          <p:cNvSpPr/>
          <p:nvPr/>
        </p:nvSpPr>
        <p:spPr>
          <a:xfrm>
            <a:off x="731520" y="60807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9"/>
          <p:cNvSpPr/>
          <p:nvPr/>
        </p:nvSpPr>
        <p:spPr>
          <a:xfrm>
            <a:off x="1920240" y="6126480"/>
            <a:ext cx="182880" cy="18288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9"/>
          <p:cNvSpPr/>
          <p:nvPr/>
        </p:nvSpPr>
        <p:spPr>
          <a:xfrm>
            <a:off x="2194560" y="60807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9"/>
          <p:cNvSpPr/>
          <p:nvPr/>
        </p:nvSpPr>
        <p:spPr>
          <a:xfrm>
            <a:off x="3383280" y="6126480"/>
            <a:ext cx="182880" cy="18288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9"/>
          <p:cNvSpPr/>
          <p:nvPr/>
        </p:nvSpPr>
        <p:spPr>
          <a:xfrm>
            <a:off x="3657600" y="60807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9"/>
          <p:cNvSpPr/>
          <p:nvPr/>
        </p:nvSpPr>
        <p:spPr>
          <a:xfrm>
            <a:off x="4846320" y="6126480"/>
            <a:ext cx="182880" cy="18288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9"/>
          <p:cNvSpPr/>
          <p:nvPr/>
        </p:nvSpPr>
        <p:spPr>
          <a:xfrm>
            <a:off x="5120640" y="60807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LUAD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9"/>
          <p:cNvSpPr/>
          <p:nvPr/>
        </p:nvSpPr>
        <p:spPr>
          <a:xfrm>
            <a:off x="6309360" y="6126480"/>
            <a:ext cx="182880" cy="18288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9"/>
          <p:cNvSpPr/>
          <p:nvPr/>
        </p:nvSpPr>
        <p:spPr>
          <a:xfrm>
            <a:off x="6583680" y="60807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0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0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Three metrics — one without labels, two with.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0"/>
          <p:cNvSpPr/>
          <p:nvPr/>
        </p:nvSpPr>
        <p:spPr>
          <a:xfrm>
            <a:off x="365760" y="1828800"/>
            <a:ext cx="3657600" cy="420624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0"/>
          <p:cNvSpPr/>
          <p:nvPr/>
        </p:nvSpPr>
        <p:spPr>
          <a:xfrm>
            <a:off x="365760" y="1828800"/>
            <a:ext cx="73152" cy="420624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0"/>
          <p:cNvSpPr/>
          <p:nvPr/>
        </p:nvSpPr>
        <p:spPr>
          <a:xfrm>
            <a:off x="731520" y="2194560"/>
            <a:ext cx="1097280" cy="29260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0"/>
          <p:cNvSpPr/>
          <p:nvPr/>
        </p:nvSpPr>
        <p:spPr>
          <a:xfrm>
            <a:off x="731520" y="21945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0"/>
          <p:cNvSpPr/>
          <p:nvPr/>
        </p:nvSpPr>
        <p:spPr>
          <a:xfrm>
            <a:off x="731520" y="26974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Silhouette Score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731520" y="3794760"/>
            <a:ext cx="2926080" cy="18288"/>
          </a:xfrm>
          <a:prstGeom prst="rect">
            <a:avLst/>
          </a:prstGeom>
          <a:solidFill>
            <a:srgbClr val="27355A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0"/>
          <p:cNvSpPr/>
          <p:nvPr/>
        </p:nvSpPr>
        <p:spPr>
          <a:xfrm>
            <a:off x="731520" y="39319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No ground truth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731520" y="42976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Measures cluster compactness vs separation.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0"/>
          <p:cNvSpPr/>
          <p:nvPr/>
        </p:nvSpPr>
        <p:spPr>
          <a:xfrm>
            <a:off x="731520" y="5394960"/>
            <a:ext cx="2926080" cy="36576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0"/>
          <p:cNvSpPr/>
          <p:nvPr/>
        </p:nvSpPr>
        <p:spPr>
          <a:xfrm>
            <a:off x="731520" y="53949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Range:  −1  to  +1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0"/>
          <p:cNvSpPr/>
          <p:nvPr/>
        </p:nvSpPr>
        <p:spPr>
          <a:xfrm>
            <a:off x="4251960" y="1828800"/>
            <a:ext cx="3657600" cy="420624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0"/>
          <p:cNvSpPr/>
          <p:nvPr/>
        </p:nvSpPr>
        <p:spPr>
          <a:xfrm>
            <a:off x="4251960" y="1828800"/>
            <a:ext cx="73152" cy="42062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0"/>
          <p:cNvSpPr/>
          <p:nvPr/>
        </p:nvSpPr>
        <p:spPr>
          <a:xfrm>
            <a:off x="4617720" y="2194560"/>
            <a:ext cx="1097280" cy="2926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0"/>
          <p:cNvSpPr/>
          <p:nvPr/>
        </p:nvSpPr>
        <p:spPr>
          <a:xfrm>
            <a:off x="4617720" y="21945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4617720" y="26974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ARI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0"/>
          <p:cNvSpPr/>
          <p:nvPr/>
        </p:nvSpPr>
        <p:spPr>
          <a:xfrm>
            <a:off x="4617720" y="33375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Adjusted Rand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0"/>
          <p:cNvSpPr/>
          <p:nvPr/>
        </p:nvSpPr>
        <p:spPr>
          <a:xfrm>
            <a:off x="4617720" y="3794760"/>
            <a:ext cx="2926080" cy="18288"/>
          </a:xfrm>
          <a:prstGeom prst="rect">
            <a:avLst/>
          </a:prstGeom>
          <a:solidFill>
            <a:srgbClr val="27355A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0"/>
          <p:cNvSpPr/>
          <p:nvPr/>
        </p:nvSpPr>
        <p:spPr>
          <a:xfrm>
            <a:off x="4617720" y="39319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Requires ground truth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0"/>
          <p:cNvSpPr/>
          <p:nvPr/>
        </p:nvSpPr>
        <p:spPr>
          <a:xfrm>
            <a:off x="4617720" y="42976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Agreement with true labels, corrected for chance.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0"/>
          <p:cNvSpPr/>
          <p:nvPr/>
        </p:nvSpPr>
        <p:spPr>
          <a:xfrm>
            <a:off x="4617720" y="5394960"/>
            <a:ext cx="2926080" cy="36576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0"/>
          <p:cNvSpPr/>
          <p:nvPr/>
        </p:nvSpPr>
        <p:spPr>
          <a:xfrm>
            <a:off x="4617720" y="53949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Range:  −1  to  +1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0"/>
          <p:cNvSpPr/>
          <p:nvPr/>
        </p:nvSpPr>
        <p:spPr>
          <a:xfrm>
            <a:off x="8138160" y="1828800"/>
            <a:ext cx="3657600" cy="420624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0"/>
          <p:cNvSpPr/>
          <p:nvPr/>
        </p:nvSpPr>
        <p:spPr>
          <a:xfrm>
            <a:off x="8138160" y="1828800"/>
            <a:ext cx="73152" cy="420624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0"/>
          <p:cNvSpPr/>
          <p:nvPr/>
        </p:nvSpPr>
        <p:spPr>
          <a:xfrm>
            <a:off x="8503920" y="2194560"/>
            <a:ext cx="1097280" cy="2926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0"/>
          <p:cNvSpPr/>
          <p:nvPr/>
        </p:nvSpPr>
        <p:spPr>
          <a:xfrm>
            <a:off x="8503920" y="21945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EXTERNAL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0"/>
          <p:cNvSpPr/>
          <p:nvPr/>
        </p:nvSpPr>
        <p:spPr>
          <a:xfrm>
            <a:off x="8503920" y="26974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NMI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0"/>
          <p:cNvSpPr/>
          <p:nvPr/>
        </p:nvSpPr>
        <p:spPr>
          <a:xfrm>
            <a:off x="8503920" y="33375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Normalised Mutual Information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0"/>
          <p:cNvSpPr/>
          <p:nvPr/>
        </p:nvSpPr>
        <p:spPr>
          <a:xfrm>
            <a:off x="8503920" y="3794760"/>
            <a:ext cx="2926080" cy="18288"/>
          </a:xfrm>
          <a:prstGeom prst="rect">
            <a:avLst/>
          </a:prstGeom>
          <a:solidFill>
            <a:srgbClr val="27355A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0"/>
          <p:cNvSpPr/>
          <p:nvPr/>
        </p:nvSpPr>
        <p:spPr>
          <a:xfrm>
            <a:off x="8503920" y="39319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Requires ground truth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0"/>
          <p:cNvSpPr/>
          <p:nvPr/>
        </p:nvSpPr>
        <p:spPr>
          <a:xfrm>
            <a:off x="8503920" y="42976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Shared information between clusters and true labels.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0"/>
          <p:cNvSpPr/>
          <p:nvPr/>
        </p:nvSpPr>
        <p:spPr>
          <a:xfrm>
            <a:off x="8503920" y="5394960"/>
            <a:ext cx="2926080" cy="36576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0"/>
          <p:cNvSpPr/>
          <p:nvPr/>
        </p:nvSpPr>
        <p:spPr>
          <a:xfrm>
            <a:off x="8503920" y="53949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Range:  0  to 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1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1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K-Means recovers cancer subtypes with 79% adjusted agreement.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8" name="Google Shape;688;p11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{597D953B-915A-44D3-B1ED-BA07861D15CA}</a:tableStyleId>
              </a:tblPr>
              <a:tblGrid>
                <a:gridCol w="4846325"/>
                <a:gridCol w="2103125"/>
                <a:gridCol w="2103125"/>
                <a:gridCol w="2194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B8A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B8A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Silhouette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B8A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B8A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B8A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  (k = 5)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9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17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9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17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Agglomerative  ·  Ward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Agglomerative  ·  Complete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Agglomerative  ·  Average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7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9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17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71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717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7355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1F1F"/>
                    </a:solidFill>
                  </a:tcPr>
                </a:tc>
              </a:tr>
            </a:tbl>
          </a:graphicData>
        </a:graphic>
      </p:graphicFrame>
      <p:sp>
        <p:nvSpPr>
          <p:cNvPr id="689" name="Google Shape;689;p11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2A1414"/>
          </a:solidFill>
          <a:ln cap="flat" cmpd="sng" w="1587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1"/>
          <p:cNvSpPr/>
          <p:nvPr/>
        </p:nvSpPr>
        <p:spPr>
          <a:xfrm>
            <a:off x="457200" y="4937760"/>
            <a:ext cx="91440" cy="141732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1"/>
          <p:cNvSpPr/>
          <p:nvPr/>
        </p:nvSpPr>
        <p:spPr>
          <a:xfrm>
            <a:off x="731520" y="5120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⚠  CRITICAL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1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Average linkage scores highest on silhouette yet achieves near-zero ARI.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1"/>
          <p:cNvSpPr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It collapsed 800 patients into one giant cluster. Internal metrics alone cannot be trusted to evaluate clustering quality.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2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2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BEST CLUSTERING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K-Means (k = 5) maps almost perfectly onto the 5 known subtypes.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2"/>
          <p:cNvSpPr/>
          <p:nvPr/>
        </p:nvSpPr>
        <p:spPr>
          <a:xfrm>
            <a:off x="1097280" y="18288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BRCA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1874520" y="18288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2"/>
          <p:cNvSpPr/>
          <p:nvPr/>
        </p:nvSpPr>
        <p:spPr>
          <a:xfrm>
            <a:off x="2651760" y="18288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KIRC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2"/>
          <p:cNvSpPr/>
          <p:nvPr/>
        </p:nvSpPr>
        <p:spPr>
          <a:xfrm>
            <a:off x="3429000" y="18288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LUAD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2"/>
          <p:cNvSpPr/>
          <p:nvPr/>
        </p:nvSpPr>
        <p:spPr>
          <a:xfrm>
            <a:off x="4206240" y="18288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2"/>
          <p:cNvSpPr/>
          <p:nvPr/>
        </p:nvSpPr>
        <p:spPr>
          <a:xfrm>
            <a:off x="1097280" y="153619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True subtype 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2"/>
          <p:cNvSpPr/>
          <p:nvPr/>
        </p:nvSpPr>
        <p:spPr>
          <a:xfrm>
            <a:off x="457200" y="2240280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Cluster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2"/>
          <p:cNvSpPr/>
          <p:nvPr/>
        </p:nvSpPr>
        <p:spPr>
          <a:xfrm>
            <a:off x="1097280" y="2240280"/>
            <a:ext cx="740664" cy="740664"/>
          </a:xfrm>
          <a:prstGeom prst="rect">
            <a:avLst/>
          </a:prstGeom>
          <a:solidFill>
            <a:srgbClr val="5EEAD4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2"/>
          <p:cNvSpPr/>
          <p:nvPr/>
        </p:nvSpPr>
        <p:spPr>
          <a:xfrm>
            <a:off x="1097280" y="224028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298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2"/>
          <p:cNvSpPr/>
          <p:nvPr/>
        </p:nvSpPr>
        <p:spPr>
          <a:xfrm>
            <a:off x="1874520" y="2240280"/>
            <a:ext cx="740664" cy="740664"/>
          </a:xfrm>
          <a:prstGeom prst="rect">
            <a:avLst/>
          </a:prstGeom>
          <a:solidFill>
            <a:srgbClr val="5EEAD4">
              <a:alpha val="9019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2"/>
          <p:cNvSpPr/>
          <p:nvPr/>
        </p:nvSpPr>
        <p:spPr>
          <a:xfrm>
            <a:off x="1874520" y="224028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2"/>
          <p:cNvSpPr/>
          <p:nvPr/>
        </p:nvSpPr>
        <p:spPr>
          <a:xfrm>
            <a:off x="2651760" y="224028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2"/>
          <p:cNvSpPr/>
          <p:nvPr/>
        </p:nvSpPr>
        <p:spPr>
          <a:xfrm>
            <a:off x="2651760" y="224028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2"/>
          <p:cNvSpPr/>
          <p:nvPr/>
        </p:nvSpPr>
        <p:spPr>
          <a:xfrm>
            <a:off x="3429000" y="224028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2"/>
          <p:cNvSpPr/>
          <p:nvPr/>
        </p:nvSpPr>
        <p:spPr>
          <a:xfrm>
            <a:off x="3429000" y="224028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2"/>
          <p:cNvSpPr/>
          <p:nvPr/>
        </p:nvSpPr>
        <p:spPr>
          <a:xfrm>
            <a:off x="4206240" y="224028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2"/>
          <p:cNvSpPr/>
          <p:nvPr/>
        </p:nvSpPr>
        <p:spPr>
          <a:xfrm>
            <a:off x="4206240" y="224028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2"/>
          <p:cNvSpPr/>
          <p:nvPr/>
        </p:nvSpPr>
        <p:spPr>
          <a:xfrm>
            <a:off x="457200" y="3017520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Cluster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2"/>
          <p:cNvSpPr/>
          <p:nvPr/>
        </p:nvSpPr>
        <p:spPr>
          <a:xfrm>
            <a:off x="1097280" y="301752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2"/>
          <p:cNvSpPr/>
          <p:nvPr/>
        </p:nvSpPr>
        <p:spPr>
          <a:xfrm>
            <a:off x="1097280" y="301752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2"/>
          <p:cNvSpPr/>
          <p:nvPr/>
        </p:nvSpPr>
        <p:spPr>
          <a:xfrm>
            <a:off x="1874520" y="3017520"/>
            <a:ext cx="740664" cy="740664"/>
          </a:xfrm>
          <a:prstGeom prst="rect">
            <a:avLst/>
          </a:prstGeom>
          <a:solidFill>
            <a:srgbClr val="5EEAD4">
              <a:alpha val="30980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2"/>
          <p:cNvSpPr/>
          <p:nvPr/>
        </p:nvSpPr>
        <p:spPr>
          <a:xfrm>
            <a:off x="1874520" y="301752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2"/>
          <p:cNvSpPr/>
          <p:nvPr/>
        </p:nvSpPr>
        <p:spPr>
          <a:xfrm>
            <a:off x="2651760" y="3017520"/>
            <a:ext cx="740664" cy="740664"/>
          </a:xfrm>
          <a:prstGeom prst="rect">
            <a:avLst/>
          </a:prstGeom>
          <a:solidFill>
            <a:srgbClr val="5EEAD4">
              <a:alpha val="9019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2"/>
          <p:cNvSpPr/>
          <p:nvPr/>
        </p:nvSpPr>
        <p:spPr>
          <a:xfrm>
            <a:off x="2651760" y="301752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2"/>
          <p:cNvSpPr/>
          <p:nvPr/>
        </p:nvSpPr>
        <p:spPr>
          <a:xfrm>
            <a:off x="3429000" y="301752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2"/>
          <p:cNvSpPr/>
          <p:nvPr/>
        </p:nvSpPr>
        <p:spPr>
          <a:xfrm>
            <a:off x="3429000" y="301752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2"/>
          <p:cNvSpPr/>
          <p:nvPr/>
        </p:nvSpPr>
        <p:spPr>
          <a:xfrm>
            <a:off x="4206240" y="301752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2"/>
          <p:cNvSpPr/>
          <p:nvPr/>
        </p:nvSpPr>
        <p:spPr>
          <a:xfrm>
            <a:off x="4206240" y="301752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2"/>
          <p:cNvSpPr/>
          <p:nvPr/>
        </p:nvSpPr>
        <p:spPr>
          <a:xfrm>
            <a:off x="457200" y="3794760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Cluster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2"/>
          <p:cNvSpPr/>
          <p:nvPr/>
        </p:nvSpPr>
        <p:spPr>
          <a:xfrm>
            <a:off x="1097280" y="379476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2"/>
          <p:cNvSpPr/>
          <p:nvPr/>
        </p:nvSpPr>
        <p:spPr>
          <a:xfrm>
            <a:off x="1097280" y="379476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2"/>
          <p:cNvSpPr/>
          <p:nvPr/>
        </p:nvSpPr>
        <p:spPr>
          <a:xfrm>
            <a:off x="1874520" y="379476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2"/>
          <p:cNvSpPr/>
          <p:nvPr/>
        </p:nvSpPr>
        <p:spPr>
          <a:xfrm>
            <a:off x="1874520" y="379476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2"/>
          <p:cNvSpPr/>
          <p:nvPr/>
        </p:nvSpPr>
        <p:spPr>
          <a:xfrm>
            <a:off x="2651760" y="3794760"/>
            <a:ext cx="740664" cy="740664"/>
          </a:xfrm>
          <a:prstGeom prst="rect">
            <a:avLst/>
          </a:prstGeom>
          <a:solidFill>
            <a:srgbClr val="5EEAD4">
              <a:alpha val="9019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2"/>
          <p:cNvSpPr/>
          <p:nvPr/>
        </p:nvSpPr>
        <p:spPr>
          <a:xfrm>
            <a:off x="2651760" y="379476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2"/>
          <p:cNvSpPr/>
          <p:nvPr/>
        </p:nvSpPr>
        <p:spPr>
          <a:xfrm>
            <a:off x="3429000" y="3794760"/>
            <a:ext cx="740664" cy="740664"/>
          </a:xfrm>
          <a:prstGeom prst="rect">
            <a:avLst/>
          </a:prstGeom>
          <a:solidFill>
            <a:srgbClr val="5EEAD4">
              <a:alpha val="50980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2"/>
          <p:cNvSpPr/>
          <p:nvPr/>
        </p:nvSpPr>
        <p:spPr>
          <a:xfrm>
            <a:off x="3429000" y="379476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138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2"/>
          <p:cNvSpPr/>
          <p:nvPr/>
        </p:nvSpPr>
        <p:spPr>
          <a:xfrm>
            <a:off x="4206240" y="379476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2"/>
          <p:cNvSpPr/>
          <p:nvPr/>
        </p:nvSpPr>
        <p:spPr>
          <a:xfrm>
            <a:off x="4206240" y="379476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2"/>
          <p:cNvSpPr/>
          <p:nvPr/>
        </p:nvSpPr>
        <p:spPr>
          <a:xfrm>
            <a:off x="457200" y="4572000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Cluster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2"/>
          <p:cNvSpPr/>
          <p:nvPr/>
        </p:nvSpPr>
        <p:spPr>
          <a:xfrm>
            <a:off x="1097280" y="4572000"/>
            <a:ext cx="740664" cy="740664"/>
          </a:xfrm>
          <a:prstGeom prst="rect">
            <a:avLst/>
          </a:prstGeom>
          <a:solidFill>
            <a:srgbClr val="5EEAD4">
              <a:alpha val="9019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2"/>
          <p:cNvSpPr/>
          <p:nvPr/>
        </p:nvSpPr>
        <p:spPr>
          <a:xfrm>
            <a:off x="1097280" y="457200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2"/>
          <p:cNvSpPr/>
          <p:nvPr/>
        </p:nvSpPr>
        <p:spPr>
          <a:xfrm>
            <a:off x="1874520" y="457200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2"/>
          <p:cNvSpPr/>
          <p:nvPr/>
        </p:nvSpPr>
        <p:spPr>
          <a:xfrm>
            <a:off x="1874520" y="457200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2"/>
          <p:cNvSpPr/>
          <p:nvPr/>
        </p:nvSpPr>
        <p:spPr>
          <a:xfrm>
            <a:off x="2651760" y="4572000"/>
            <a:ext cx="740664" cy="740664"/>
          </a:xfrm>
          <a:prstGeom prst="rect">
            <a:avLst/>
          </a:prstGeom>
          <a:solidFill>
            <a:srgbClr val="5EEAD4">
              <a:alpha val="52156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2"/>
          <p:cNvSpPr/>
          <p:nvPr/>
        </p:nvSpPr>
        <p:spPr>
          <a:xfrm>
            <a:off x="2651760" y="457200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2"/>
          <p:cNvSpPr/>
          <p:nvPr/>
        </p:nvSpPr>
        <p:spPr>
          <a:xfrm>
            <a:off x="3429000" y="457200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2"/>
          <p:cNvSpPr/>
          <p:nvPr/>
        </p:nvSpPr>
        <p:spPr>
          <a:xfrm>
            <a:off x="3429000" y="457200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2"/>
          <p:cNvSpPr/>
          <p:nvPr/>
        </p:nvSpPr>
        <p:spPr>
          <a:xfrm>
            <a:off x="4206240" y="457200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2"/>
          <p:cNvSpPr/>
          <p:nvPr/>
        </p:nvSpPr>
        <p:spPr>
          <a:xfrm>
            <a:off x="4206240" y="457200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2"/>
          <p:cNvSpPr/>
          <p:nvPr/>
        </p:nvSpPr>
        <p:spPr>
          <a:xfrm>
            <a:off x="457200" y="5349240"/>
            <a:ext cx="594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Cluster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2"/>
          <p:cNvSpPr/>
          <p:nvPr/>
        </p:nvSpPr>
        <p:spPr>
          <a:xfrm>
            <a:off x="1097280" y="534924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2"/>
          <p:cNvSpPr/>
          <p:nvPr/>
        </p:nvSpPr>
        <p:spPr>
          <a:xfrm>
            <a:off x="1097280" y="534924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2"/>
          <p:cNvSpPr/>
          <p:nvPr/>
        </p:nvSpPr>
        <p:spPr>
          <a:xfrm>
            <a:off x="1874520" y="534924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2"/>
          <p:cNvSpPr/>
          <p:nvPr/>
        </p:nvSpPr>
        <p:spPr>
          <a:xfrm>
            <a:off x="1874520" y="534924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2"/>
          <p:cNvSpPr/>
          <p:nvPr/>
        </p:nvSpPr>
        <p:spPr>
          <a:xfrm>
            <a:off x="2651760" y="5349240"/>
            <a:ext cx="740664" cy="740664"/>
          </a:xfrm>
          <a:prstGeom prst="rect">
            <a:avLst/>
          </a:prstGeom>
          <a:solidFill>
            <a:srgbClr val="5EEAD4">
              <a:alpha val="7843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2"/>
          <p:cNvSpPr/>
          <p:nvPr/>
        </p:nvSpPr>
        <p:spPr>
          <a:xfrm>
            <a:off x="2651760" y="534924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2"/>
          <p:cNvSpPr/>
          <p:nvPr/>
        </p:nvSpPr>
        <p:spPr>
          <a:xfrm>
            <a:off x="3429000" y="5349240"/>
            <a:ext cx="740664" cy="740664"/>
          </a:xfrm>
          <a:prstGeom prst="rect">
            <a:avLst/>
          </a:prstGeom>
          <a:solidFill>
            <a:srgbClr val="5EEAD4">
              <a:alpha val="9019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2"/>
          <p:cNvSpPr/>
          <p:nvPr/>
        </p:nvSpPr>
        <p:spPr>
          <a:xfrm>
            <a:off x="3429000" y="534924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2"/>
          <p:cNvSpPr/>
          <p:nvPr/>
        </p:nvSpPr>
        <p:spPr>
          <a:xfrm>
            <a:off x="4206240" y="5349240"/>
            <a:ext cx="740664" cy="740664"/>
          </a:xfrm>
          <a:prstGeom prst="rect">
            <a:avLst/>
          </a:prstGeom>
          <a:solidFill>
            <a:srgbClr val="5EEAD4">
              <a:alpha val="49019"/>
            </a:srgbClr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2"/>
          <p:cNvSpPr/>
          <p:nvPr/>
        </p:nvSpPr>
        <p:spPr>
          <a:xfrm>
            <a:off x="4206240" y="5349240"/>
            <a:ext cx="740664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133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2"/>
          <p:cNvSpPr/>
          <p:nvPr/>
        </p:nvSpPr>
        <p:spPr>
          <a:xfrm>
            <a:off x="5852160" y="1828800"/>
            <a:ext cx="5852160" cy="45720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2"/>
          <p:cNvSpPr/>
          <p:nvPr/>
        </p:nvSpPr>
        <p:spPr>
          <a:xfrm>
            <a:off x="5852160" y="1828800"/>
            <a:ext cx="73152" cy="4572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2"/>
          <p:cNvSpPr/>
          <p:nvPr/>
        </p:nvSpPr>
        <p:spPr>
          <a:xfrm>
            <a:off x="6217920" y="21488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READING THE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2"/>
          <p:cNvSpPr/>
          <p:nvPr/>
        </p:nvSpPr>
        <p:spPr>
          <a:xfrm>
            <a:off x="6217920" y="246888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Each row has one dominant cell — a near one-to-one cluster ↔ subtype mapping.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2"/>
          <p:cNvSpPr/>
          <p:nvPr/>
        </p:nvSpPr>
        <p:spPr>
          <a:xfrm>
            <a:off x="6217920" y="33375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Cluster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2"/>
          <p:cNvSpPr/>
          <p:nvPr/>
        </p:nvSpPr>
        <p:spPr>
          <a:xfrm>
            <a:off x="7406640" y="333756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2"/>
          <p:cNvSpPr/>
          <p:nvPr/>
        </p:nvSpPr>
        <p:spPr>
          <a:xfrm>
            <a:off x="7772400" y="33375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BRCA  (breast)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2"/>
          <p:cNvSpPr/>
          <p:nvPr/>
        </p:nvSpPr>
        <p:spPr>
          <a:xfrm>
            <a:off x="6217920" y="372160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Cluster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2"/>
          <p:cNvSpPr/>
          <p:nvPr/>
        </p:nvSpPr>
        <p:spPr>
          <a:xfrm>
            <a:off x="7406640" y="372160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2"/>
          <p:cNvSpPr/>
          <p:nvPr/>
        </p:nvSpPr>
        <p:spPr>
          <a:xfrm>
            <a:off x="7772400" y="3721608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COAD  (colon)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2"/>
          <p:cNvSpPr/>
          <p:nvPr/>
        </p:nvSpPr>
        <p:spPr>
          <a:xfrm>
            <a:off x="6217920" y="410565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Cluster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2"/>
          <p:cNvSpPr/>
          <p:nvPr/>
        </p:nvSpPr>
        <p:spPr>
          <a:xfrm>
            <a:off x="7406640" y="4105656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2"/>
          <p:cNvSpPr/>
          <p:nvPr/>
        </p:nvSpPr>
        <p:spPr>
          <a:xfrm>
            <a:off x="7772400" y="410565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LUAD  (lung)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2"/>
          <p:cNvSpPr/>
          <p:nvPr/>
        </p:nvSpPr>
        <p:spPr>
          <a:xfrm>
            <a:off x="6217920" y="4489704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Cluster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2"/>
          <p:cNvSpPr/>
          <p:nvPr/>
        </p:nvSpPr>
        <p:spPr>
          <a:xfrm>
            <a:off x="7406640" y="4489704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2"/>
          <p:cNvSpPr/>
          <p:nvPr/>
        </p:nvSpPr>
        <p:spPr>
          <a:xfrm>
            <a:off x="7772400" y="448970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KIRC  (kidney)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2"/>
          <p:cNvSpPr/>
          <p:nvPr/>
        </p:nvSpPr>
        <p:spPr>
          <a:xfrm>
            <a:off x="6217920" y="487375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Cluster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2"/>
          <p:cNvSpPr/>
          <p:nvPr/>
        </p:nvSpPr>
        <p:spPr>
          <a:xfrm>
            <a:off x="7406640" y="487375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2"/>
          <p:cNvSpPr/>
          <p:nvPr/>
        </p:nvSpPr>
        <p:spPr>
          <a:xfrm>
            <a:off x="7772400" y="487375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PRAD  (prostate)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2"/>
          <p:cNvSpPr/>
          <p:nvPr/>
        </p:nvSpPr>
        <p:spPr>
          <a:xfrm>
            <a:off x="6217920" y="5532120"/>
            <a:ext cx="5120640" cy="18288"/>
          </a:xfrm>
          <a:prstGeom prst="rect">
            <a:avLst/>
          </a:prstGeom>
          <a:solidFill>
            <a:srgbClr val="27355A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2"/>
          <p:cNvSpPr/>
          <p:nvPr/>
        </p:nvSpPr>
        <p:spPr>
          <a:xfrm>
            <a:off x="6217920" y="562356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The algorithm grouped patients by organ of origin — with no label supervision.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3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3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3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 deployable web app for exploration and prediction.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3"/>
          <p:cNvSpPr/>
          <p:nvPr/>
        </p:nvSpPr>
        <p:spPr>
          <a:xfrm>
            <a:off x="457200" y="1783080"/>
            <a:ext cx="5852160" cy="9144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3"/>
          <p:cNvSpPr/>
          <p:nvPr/>
        </p:nvSpPr>
        <p:spPr>
          <a:xfrm>
            <a:off x="457200" y="1783080"/>
            <a:ext cx="73152" cy="9144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3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3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1325880" y="192024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Clustering Playground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3"/>
          <p:cNvSpPr/>
          <p:nvPr/>
        </p:nvSpPr>
        <p:spPr>
          <a:xfrm>
            <a:off x="1325880" y="226771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Pick algorithm and k — metrics update live.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3"/>
          <p:cNvSpPr/>
          <p:nvPr/>
        </p:nvSpPr>
        <p:spPr>
          <a:xfrm>
            <a:off x="457200" y="2788920"/>
            <a:ext cx="5852160" cy="9144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3"/>
          <p:cNvSpPr/>
          <p:nvPr/>
        </p:nvSpPr>
        <p:spPr>
          <a:xfrm>
            <a:off x="457200" y="2788920"/>
            <a:ext cx="73152" cy="9144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3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3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3"/>
          <p:cNvSpPr/>
          <p:nvPr/>
        </p:nvSpPr>
        <p:spPr>
          <a:xfrm>
            <a:off x="1325880" y="29260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PCA Explorer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3"/>
          <p:cNvSpPr/>
          <p:nvPr/>
        </p:nvSpPr>
        <p:spPr>
          <a:xfrm>
            <a:off x="1325880" y="327355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Inspect explained variance and 2D projections.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3"/>
          <p:cNvSpPr/>
          <p:nvPr/>
        </p:nvSpPr>
        <p:spPr>
          <a:xfrm>
            <a:off x="457200" y="3794760"/>
            <a:ext cx="5852160" cy="9144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3"/>
          <p:cNvSpPr/>
          <p:nvPr/>
        </p:nvSpPr>
        <p:spPr>
          <a:xfrm>
            <a:off x="457200" y="3794760"/>
            <a:ext cx="73152" cy="9144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3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3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3"/>
          <p:cNvSpPr/>
          <p:nvPr/>
        </p:nvSpPr>
        <p:spPr>
          <a:xfrm>
            <a:off x="1325880" y="393192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Evaluation Dashboard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3"/>
          <p:cNvSpPr/>
          <p:nvPr/>
        </p:nvSpPr>
        <p:spPr>
          <a:xfrm>
            <a:off x="1325880" y="42793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Side-by-side metric comparison across all algorithms.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3"/>
          <p:cNvSpPr/>
          <p:nvPr/>
        </p:nvSpPr>
        <p:spPr>
          <a:xfrm>
            <a:off x="457200" y="4800600"/>
            <a:ext cx="5852160" cy="914400"/>
          </a:xfrm>
          <a:prstGeom prst="rect">
            <a:avLst/>
          </a:prstGeom>
          <a:solidFill>
            <a:srgbClr val="1C2742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3"/>
          <p:cNvSpPr/>
          <p:nvPr/>
        </p:nvSpPr>
        <p:spPr>
          <a:xfrm>
            <a:off x="457200" y="4800600"/>
            <a:ext cx="73152" cy="9144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3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3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3"/>
          <p:cNvSpPr/>
          <p:nvPr/>
        </p:nvSpPr>
        <p:spPr>
          <a:xfrm>
            <a:off x="1325880" y="49377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Predict Your Sample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3"/>
          <p:cNvSpPr/>
          <p:nvPr/>
        </p:nvSpPr>
        <p:spPr>
          <a:xfrm>
            <a:off x="1325880" y="528523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raw expression CSV → returns predicted cluster.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3"/>
          <p:cNvSpPr/>
          <p:nvPr/>
        </p:nvSpPr>
        <p:spPr>
          <a:xfrm>
            <a:off x="6583680" y="1783080"/>
            <a:ext cx="5120640" cy="4069080"/>
          </a:xfrm>
          <a:prstGeom prst="rect">
            <a:avLst/>
          </a:prstGeom>
          <a:solidFill>
            <a:srgbClr val="162033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3"/>
          <p:cNvSpPr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solidFill>
            <a:srgbClr val="1C2742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3"/>
          <p:cNvSpPr/>
          <p:nvPr/>
        </p:nvSpPr>
        <p:spPr>
          <a:xfrm>
            <a:off x="6720840" y="1901952"/>
            <a:ext cx="128016" cy="128016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3"/>
          <p:cNvSpPr/>
          <p:nvPr/>
        </p:nvSpPr>
        <p:spPr>
          <a:xfrm>
            <a:off x="6922008" y="1901952"/>
            <a:ext cx="128016" cy="128016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3"/>
          <p:cNvSpPr/>
          <p:nvPr/>
        </p:nvSpPr>
        <p:spPr>
          <a:xfrm>
            <a:off x="7123176" y="1901952"/>
            <a:ext cx="128016" cy="128016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3"/>
          <p:cNvSpPr/>
          <p:nvPr/>
        </p:nvSpPr>
        <p:spPr>
          <a:xfrm>
            <a:off x="7498080" y="1874520"/>
            <a:ext cx="4023360" cy="182880"/>
          </a:xfrm>
          <a:prstGeom prst="rect">
            <a:avLst/>
          </a:prstGeom>
          <a:solidFill>
            <a:srgbClr val="0F1729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3"/>
          <p:cNvSpPr/>
          <p:nvPr/>
        </p:nvSpPr>
        <p:spPr>
          <a:xfrm>
            <a:off x="7543800" y="187452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cancer-subtype-clustering-67.streamlit.app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3"/>
          <p:cNvSpPr/>
          <p:nvPr/>
        </p:nvSpPr>
        <p:spPr>
          <a:xfrm>
            <a:off x="6629400" y="2194560"/>
            <a:ext cx="1097280" cy="3611880"/>
          </a:xfrm>
          <a:prstGeom prst="rect">
            <a:avLst/>
          </a:prstGeom>
          <a:solidFill>
            <a:srgbClr val="1C2742"/>
          </a:solidFill>
          <a:ln cap="flat" cmpd="sng" w="12700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3"/>
          <p:cNvSpPr/>
          <p:nvPr/>
        </p:nvSpPr>
        <p:spPr>
          <a:xfrm>
            <a:off x="6720840" y="2377440"/>
            <a:ext cx="914400" cy="27432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3"/>
          <p:cNvSpPr/>
          <p:nvPr/>
        </p:nvSpPr>
        <p:spPr>
          <a:xfrm>
            <a:off x="6720840" y="23774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3"/>
          <p:cNvSpPr/>
          <p:nvPr/>
        </p:nvSpPr>
        <p:spPr>
          <a:xfrm>
            <a:off x="6720840" y="2788920"/>
            <a:ext cx="914400" cy="27432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3"/>
          <p:cNvSpPr/>
          <p:nvPr/>
        </p:nvSpPr>
        <p:spPr>
          <a:xfrm>
            <a:off x="6720840" y="2788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 =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3"/>
          <p:cNvSpPr/>
          <p:nvPr/>
        </p:nvSpPr>
        <p:spPr>
          <a:xfrm>
            <a:off x="6720840" y="3200400"/>
            <a:ext cx="914400" cy="274320"/>
          </a:xfrm>
          <a:prstGeom prst="rect">
            <a:avLst/>
          </a:prstGeom>
          <a:solidFill>
            <a:srgbClr val="14B8A6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3"/>
          <p:cNvSpPr/>
          <p:nvPr/>
        </p:nvSpPr>
        <p:spPr>
          <a:xfrm>
            <a:off x="6720840" y="32004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1729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3"/>
          <p:cNvSpPr/>
          <p:nvPr/>
        </p:nvSpPr>
        <p:spPr>
          <a:xfrm>
            <a:off x="6720840" y="3611880"/>
            <a:ext cx="914400" cy="274320"/>
          </a:xfrm>
          <a:prstGeom prst="rect">
            <a:avLst/>
          </a:prstGeom>
          <a:solidFill>
            <a:srgbClr val="162033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3"/>
          <p:cNvSpPr/>
          <p:nvPr/>
        </p:nvSpPr>
        <p:spPr>
          <a:xfrm>
            <a:off x="6720840" y="3611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3"/>
          <p:cNvSpPr/>
          <p:nvPr/>
        </p:nvSpPr>
        <p:spPr>
          <a:xfrm>
            <a:off x="7863840" y="2331720"/>
            <a:ext cx="3703320" cy="3383280"/>
          </a:xfrm>
          <a:prstGeom prst="rect">
            <a:avLst/>
          </a:prstGeom>
          <a:solidFill>
            <a:srgbClr val="0F1729"/>
          </a:solidFill>
          <a:ln cap="flat" cmpd="sng" w="9525">
            <a:solidFill>
              <a:srgbClr val="27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3"/>
          <p:cNvSpPr/>
          <p:nvPr/>
        </p:nvSpPr>
        <p:spPr>
          <a:xfrm>
            <a:off x="8700043" y="3402170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3"/>
          <p:cNvSpPr/>
          <p:nvPr/>
        </p:nvSpPr>
        <p:spPr>
          <a:xfrm>
            <a:off x="8552712" y="345728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3"/>
          <p:cNvSpPr/>
          <p:nvPr/>
        </p:nvSpPr>
        <p:spPr>
          <a:xfrm>
            <a:off x="8402721" y="3305845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3"/>
          <p:cNvSpPr/>
          <p:nvPr/>
        </p:nvSpPr>
        <p:spPr>
          <a:xfrm>
            <a:off x="8410231" y="3013061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3"/>
          <p:cNvSpPr/>
          <p:nvPr/>
        </p:nvSpPr>
        <p:spPr>
          <a:xfrm>
            <a:off x="8631015" y="3043869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3"/>
          <p:cNvSpPr/>
          <p:nvPr/>
        </p:nvSpPr>
        <p:spPr>
          <a:xfrm>
            <a:off x="8782203" y="3077836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3"/>
          <p:cNvSpPr/>
          <p:nvPr/>
        </p:nvSpPr>
        <p:spPr>
          <a:xfrm>
            <a:off x="8864314" y="3298530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3"/>
          <p:cNvSpPr/>
          <p:nvPr/>
        </p:nvSpPr>
        <p:spPr>
          <a:xfrm>
            <a:off x="8756281" y="3556836"/>
            <a:ext cx="91440" cy="91440"/>
          </a:xfrm>
          <a:prstGeom prst="ellipse">
            <a:avLst/>
          </a:prstGeom>
          <a:solidFill>
            <a:srgbClr val="5EEAD4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3"/>
          <p:cNvSpPr/>
          <p:nvPr/>
        </p:nvSpPr>
        <p:spPr>
          <a:xfrm>
            <a:off x="10474058" y="3023530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3"/>
          <p:cNvSpPr/>
          <p:nvPr/>
        </p:nvSpPr>
        <p:spPr>
          <a:xfrm>
            <a:off x="10583603" y="2885996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3"/>
          <p:cNvSpPr/>
          <p:nvPr/>
        </p:nvSpPr>
        <p:spPr>
          <a:xfrm>
            <a:off x="10771721" y="2928945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3"/>
          <p:cNvSpPr/>
          <p:nvPr/>
        </p:nvSpPr>
        <p:spPr>
          <a:xfrm>
            <a:off x="10873155" y="3191592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3"/>
          <p:cNvSpPr/>
          <p:nvPr/>
        </p:nvSpPr>
        <p:spPr>
          <a:xfrm>
            <a:off x="10667146" y="3297727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3"/>
          <p:cNvSpPr/>
          <p:nvPr/>
        </p:nvSpPr>
        <p:spPr>
          <a:xfrm>
            <a:off x="10521326" y="3359060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3"/>
          <p:cNvSpPr/>
          <p:nvPr/>
        </p:nvSpPr>
        <p:spPr>
          <a:xfrm>
            <a:off x="10367489" y="3214072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3"/>
          <p:cNvSpPr/>
          <p:nvPr/>
        </p:nvSpPr>
        <p:spPr>
          <a:xfrm>
            <a:off x="10367399" y="2921131"/>
            <a:ext cx="91440" cy="91440"/>
          </a:xfrm>
          <a:prstGeom prst="ellipse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3"/>
          <p:cNvSpPr/>
          <p:nvPr/>
        </p:nvSpPr>
        <p:spPr>
          <a:xfrm>
            <a:off x="10599175" y="4591655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3"/>
          <p:cNvSpPr/>
          <p:nvPr/>
        </p:nvSpPr>
        <p:spPr>
          <a:xfrm>
            <a:off x="10723560" y="4476603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3"/>
          <p:cNvSpPr/>
          <p:nvPr/>
        </p:nvSpPr>
        <p:spPr>
          <a:xfrm>
            <a:off x="10904547" y="4555026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3"/>
          <p:cNvSpPr/>
          <p:nvPr/>
        </p:nvSpPr>
        <p:spPr>
          <a:xfrm>
            <a:off x="10974155" y="4834111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3"/>
          <p:cNvSpPr/>
          <p:nvPr/>
        </p:nvSpPr>
        <p:spPr>
          <a:xfrm>
            <a:off x="10758058" y="489967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3"/>
          <p:cNvSpPr/>
          <p:nvPr/>
        </p:nvSpPr>
        <p:spPr>
          <a:xfrm>
            <a:off x="10606709" y="4932452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3"/>
          <p:cNvSpPr/>
          <p:nvPr/>
        </p:nvSpPr>
        <p:spPr>
          <a:xfrm>
            <a:off x="10471540" y="4759689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3"/>
          <p:cNvSpPr/>
          <p:nvPr/>
        </p:nvSpPr>
        <p:spPr>
          <a:xfrm>
            <a:off x="10505678" y="4470020"/>
            <a:ext cx="91440" cy="91440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3"/>
          <p:cNvSpPr/>
          <p:nvPr/>
        </p:nvSpPr>
        <p:spPr>
          <a:xfrm>
            <a:off x="8880227" y="511166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3"/>
          <p:cNvSpPr/>
          <p:nvPr/>
        </p:nvSpPr>
        <p:spPr>
          <a:xfrm>
            <a:off x="8726743" y="5108628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3"/>
          <p:cNvSpPr/>
          <p:nvPr/>
        </p:nvSpPr>
        <p:spPr>
          <a:xfrm>
            <a:off x="8618441" y="4907263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3"/>
          <p:cNvSpPr/>
          <p:nvPr/>
        </p:nvSpPr>
        <p:spPr>
          <a:xfrm>
            <a:off x="8693264" y="4630394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3"/>
          <p:cNvSpPr/>
          <p:nvPr/>
        </p:nvSpPr>
        <p:spPr>
          <a:xfrm>
            <a:off x="8897069" y="4743277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3"/>
          <p:cNvSpPr/>
          <p:nvPr/>
        </p:nvSpPr>
        <p:spPr>
          <a:xfrm>
            <a:off x="9033657" y="4832872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3"/>
          <p:cNvSpPr/>
          <p:nvPr/>
        </p:nvSpPr>
        <p:spPr>
          <a:xfrm>
            <a:off x="9061108" y="5074745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3"/>
          <p:cNvSpPr/>
          <p:nvPr/>
        </p:nvSpPr>
        <p:spPr>
          <a:xfrm>
            <a:off x="8898217" y="5280680"/>
            <a:ext cx="91440" cy="9144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3"/>
          <p:cNvSpPr/>
          <p:nvPr/>
        </p:nvSpPr>
        <p:spPr>
          <a:xfrm>
            <a:off x="9551104" y="4091029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3"/>
          <p:cNvSpPr/>
          <p:nvPr/>
        </p:nvSpPr>
        <p:spPr>
          <a:xfrm>
            <a:off x="9483601" y="3914700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3"/>
          <p:cNvSpPr/>
          <p:nvPr/>
        </p:nvSpPr>
        <p:spPr>
          <a:xfrm>
            <a:off x="9574786" y="3699912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3"/>
          <p:cNvSpPr/>
          <p:nvPr/>
        </p:nvSpPr>
        <p:spPr>
          <a:xfrm>
            <a:off x="9801645" y="3659613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3"/>
          <p:cNvSpPr/>
          <p:nvPr/>
        </p:nvSpPr>
        <p:spPr>
          <a:xfrm>
            <a:off x="9815434" y="3943127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3"/>
          <p:cNvSpPr/>
          <p:nvPr/>
        </p:nvSpPr>
        <p:spPr>
          <a:xfrm>
            <a:off x="9814961" y="4139458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3"/>
          <p:cNvSpPr/>
          <p:nvPr/>
        </p:nvSpPr>
        <p:spPr>
          <a:xfrm>
            <a:off x="9658877" y="4280461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3"/>
          <p:cNvSpPr/>
          <p:nvPr/>
        </p:nvSpPr>
        <p:spPr>
          <a:xfrm>
            <a:off x="9441496" y="4188199"/>
            <a:ext cx="91440" cy="91440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62033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3"/>
          <p:cNvSpPr/>
          <p:nvPr/>
        </p:nvSpPr>
        <p:spPr>
          <a:xfrm>
            <a:off x="457200" y="5989320"/>
            <a:ext cx="73152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LIVE DEMO   </a:t>
            </a:r>
            <a:r>
              <a:rPr b="0" i="1" lang="en-US" sz="1400" u="sng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cancer-subtype-clustering-67.streamlit.app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9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4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Cancer Subtype Discovery  ·  ML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4"/>
          <p:cNvSpPr/>
          <p:nvPr/>
        </p:nvSpPr>
        <p:spPr>
          <a:xfrm>
            <a:off x="45720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4"/>
          <p:cNvSpPr/>
          <p:nvPr/>
        </p:nvSpPr>
        <p:spPr>
          <a:xfrm>
            <a:off x="457200" y="3291840"/>
            <a:ext cx="1124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1" lang="en-US" sz="3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r>
              <a:rPr b="1" i="1" lang="en-US" sz="3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2026-04-14T16:28:41Z</dcterms:created>
  <dc:creator>ML Project</dc:creator>
</cp:coreProperties>
</file>